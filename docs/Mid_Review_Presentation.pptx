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65" r:id="rId11"/>
    <p:sldId id="266" r:id="rId12"/>
    <p:sldId id="267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2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58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A2D1A-2721-E396-543F-38295735C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9F730-57ED-3D7C-01FA-14823E269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6D73B-BEA4-516C-1864-DB44E4D65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864AA-CA72-455C-86F2-D0046F5C1E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10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amritavishwavidyapeetham-my.sharepoint.com/:x:/g/personal/cb_ai_u4aid25041_cb_students_amrita_edu/IQA5kDhvQneXSq_cNFE8bsO9AQOTuNvlMcFH-MnzPKYevhM?e=WGKDVJ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47308" y="-1460729"/>
            <a:ext cx="3291840" cy="3291840"/>
          </a:xfrm>
          <a:prstGeom prst="ellipse">
            <a:avLst/>
          </a:prstGeom>
          <a:ln w="12700">
            <a:solidFill>
              <a:srgbClr val="3D5A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04508" y="-912089"/>
            <a:ext cx="2194560" cy="2194560"/>
          </a:xfrm>
          <a:prstGeom prst="ellipse">
            <a:avLst/>
          </a:prstGeom>
          <a:ln w="12700">
            <a:solidFill>
              <a:srgbClr val="3D5A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544588" y="-460672"/>
            <a:ext cx="1097280" cy="1097280"/>
          </a:xfrm>
          <a:prstGeom prst="ellipse">
            <a:avLst/>
          </a:prstGeom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MID-PROJECT REVIEW   :   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64213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RF Digital Twin Using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ADALM-PLUTO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3604009"/>
            <a:ext cx="2926080" cy="0"/>
          </a:xfrm>
          <a:prstGeom prst="line">
            <a:avLst/>
          </a:prstGeom>
          <a:noFill/>
          <a:ln w="25400">
            <a:solidFill>
              <a:srgbClr val="3D5A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3878411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25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23AID203  -  Software-Defined Communication Systems </a:t>
            </a:r>
          </a:p>
          <a:p>
            <a:r>
              <a:rPr lang="en-IN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Faculty: </a:t>
            </a:r>
            <a:r>
              <a:rPr lang="en-IN" b="1" u="sng" dirty="0">
                <a:solidFill>
                  <a:schemeClr val="bg1"/>
                </a:solidFill>
              </a:rPr>
              <a:t>Kavitha K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9E8DAF-AF8F-4AD9-0F22-55A99576665B}"/>
              </a:ext>
            </a:extLst>
          </p:cNvPr>
          <p:cNvSpPr txBox="1"/>
          <p:nvPr/>
        </p:nvSpPr>
        <p:spPr>
          <a:xfrm>
            <a:off x="8902667" y="4920711"/>
            <a:ext cx="4836481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525"/>
              </a:lnSpc>
              <a:buNone/>
            </a:pPr>
            <a:r>
              <a:rPr lang="en-IN" sz="1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 SAI SRIKAR – CB.AI.U4AID25006</a:t>
            </a:r>
            <a:endParaRPr lang="en-IN" sz="14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525"/>
              </a:lnSpc>
              <a:buNone/>
            </a:pPr>
            <a:r>
              <a:rPr lang="en-IN" sz="1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 SURYA – CB.AI.U4AID25009</a:t>
            </a:r>
            <a:endParaRPr lang="en-IN" sz="14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525"/>
              </a:lnSpc>
              <a:buNone/>
            </a:pPr>
            <a:r>
              <a:rPr lang="en-IN" sz="1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 SAI SATHWIK – CB.AI.U4AID25041</a:t>
            </a:r>
            <a:endParaRPr lang="en-IN" sz="14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525"/>
              </a:lnSpc>
              <a:buNone/>
            </a:pPr>
            <a:r>
              <a:rPr lang="en-IN" sz="1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 NEERAJ – CB.AI.U4AID25031</a:t>
            </a:r>
            <a:endParaRPr lang="en-IN" sz="14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4456CC-DAC0-CD38-DBC8-8C3451FC4588}"/>
              </a:ext>
            </a:extLst>
          </p:cNvPr>
          <p:cNvSpPr txBox="1"/>
          <p:nvPr/>
        </p:nvSpPr>
        <p:spPr>
          <a:xfrm>
            <a:off x="8317567" y="4372071"/>
            <a:ext cx="6875362" cy="595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575"/>
              </a:lnSpc>
            </a:pPr>
            <a:r>
              <a:rPr lang="en-IN" b="1" i="0" u="sng" dirty="0">
                <a:solidFill>
                  <a:schemeClr val="bg1"/>
                </a:solidFill>
                <a:effectLst/>
                <a:latin typeface="YAGzXW3gftg_0"/>
              </a:rPr>
              <a:t>GROUP: 16</a:t>
            </a:r>
            <a:endParaRPr lang="en-IN" u="sng" dirty="0">
              <a:solidFill>
                <a:schemeClr val="bg1"/>
              </a:solidFill>
              <a:effectLst/>
              <a:latin typeface="YAGzXW3gftg_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A3CAD74-B485-EC2D-EA54-98D6EC472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679" y="-404085"/>
            <a:ext cx="1556215" cy="15562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52D8C8B-A046-C56B-9BFD-3F3ED14AC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41"/>
            <a:ext cx="12192000" cy="67965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01168" y="350294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b="1" u="sng" dirty="0">
                <a:solidFill>
                  <a:srgbClr val="1E27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wireless systems use different modulation techniques to transmit information.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unknown RF signal is received, its modulation type needs to be identified.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Modulation Classification (AMC)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this identification automatically.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signals can be represented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In-phase (I) and Quadrature (Q) samples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can learn modulation-specific patterns directly from I/Q data.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RF Digital Twin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modulation classification.</a:t>
            </a:r>
          </a:p>
        </p:txBody>
      </p:sp>
      <p:sp>
        <p:nvSpPr>
          <p:cNvPr id="4" name="Shape 2"/>
          <p:cNvSpPr/>
          <p:nvPr/>
        </p:nvSpPr>
        <p:spPr>
          <a:xfrm>
            <a:off x="8592854" y="2104372"/>
            <a:ext cx="3065745" cy="3839227"/>
          </a:xfrm>
          <a:prstGeom prst="roundRect">
            <a:avLst>
              <a:gd name="adj" fmla="val 2128"/>
            </a:avLst>
          </a:prstGeom>
          <a:solidFill>
            <a:srgbClr val="F3F6FC"/>
          </a:solidFill>
          <a:ln w="1270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709906" y="1476442"/>
            <a:ext cx="2674373" cy="260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29414" y="2112920"/>
            <a:ext cx="2609145" cy="648568"/>
          </a:xfrm>
          <a:prstGeom prst="roundRect">
            <a:avLst>
              <a:gd name="adj" fmla="val 8046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48924" y="2112920"/>
            <a:ext cx="2543916" cy="64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Signal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927465" y="2810678"/>
            <a:ext cx="186714" cy="202138"/>
          </a:xfrm>
          <a:prstGeom prst="downArrow">
            <a:avLst/>
          </a:prstGeom>
          <a:solidFill>
            <a:srgbClr val="3D5A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729414" y="3036464"/>
            <a:ext cx="2609145" cy="648568"/>
          </a:xfrm>
          <a:prstGeom prst="roundRect">
            <a:avLst>
              <a:gd name="adj" fmla="val 8046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748924" y="3036464"/>
            <a:ext cx="2543916" cy="64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I/Q Samples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29414" y="3960008"/>
            <a:ext cx="2609145" cy="648568"/>
          </a:xfrm>
          <a:prstGeom prst="roundRect">
            <a:avLst>
              <a:gd name="adj" fmla="val 8046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748924" y="3960008"/>
            <a:ext cx="2543916" cy="64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29414" y="4883552"/>
            <a:ext cx="2609145" cy="648568"/>
          </a:xfrm>
          <a:prstGeom prst="roundRect">
            <a:avLst>
              <a:gd name="adj" fmla="val 8046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748924" y="4883552"/>
            <a:ext cx="2543916" cy="64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 Type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05608" y="6542916"/>
            <a:ext cx="326143" cy="223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1ECE59C5-39CE-C36D-F699-DC8CFEA687A1}"/>
              </a:ext>
            </a:extLst>
          </p:cNvPr>
          <p:cNvSpPr/>
          <p:nvPr/>
        </p:nvSpPr>
        <p:spPr>
          <a:xfrm>
            <a:off x="9927465" y="3708680"/>
            <a:ext cx="186714" cy="202138"/>
          </a:xfrm>
          <a:prstGeom prst="downArrow">
            <a:avLst/>
          </a:prstGeom>
          <a:solidFill>
            <a:srgbClr val="3D5A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ACF1C9CE-D152-51DB-88B4-7CE49426D379}"/>
              </a:ext>
            </a:extLst>
          </p:cNvPr>
          <p:cNvSpPr/>
          <p:nvPr/>
        </p:nvSpPr>
        <p:spPr>
          <a:xfrm>
            <a:off x="9893604" y="4644995"/>
            <a:ext cx="186714" cy="202138"/>
          </a:xfrm>
          <a:prstGeom prst="downArrow">
            <a:avLst/>
          </a:prstGeom>
          <a:solidFill>
            <a:srgbClr val="3D5AA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955F188-E243-DF9E-785F-F6BC9938B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679" y="-404085"/>
            <a:ext cx="1556215" cy="15562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F39FC17-9FFE-351F-B7AB-A36B5B31A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41"/>
            <a:ext cx="12192000" cy="67965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74904" y="27288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b="1" u="sng" dirty="0">
                <a:solidFill>
                  <a:srgbClr val="1E27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</a:p>
        </p:txBody>
      </p:sp>
      <p:sp>
        <p:nvSpPr>
          <p:cNvPr id="3" name="Shape 1"/>
          <p:cNvSpPr/>
          <p:nvPr/>
        </p:nvSpPr>
        <p:spPr>
          <a:xfrm>
            <a:off x="445050" y="2076197"/>
            <a:ext cx="10951380" cy="2364449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 w="1270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224028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signal identification is difficult for large numbers of RF signals.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approaches often depend on handcrafted signal features.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classifier can learn patterns from I/Q samples and predict the modulation type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482926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MODULATION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5583647"/>
            <a:ext cx="1965960" cy="777240"/>
          </a:xfrm>
          <a:prstGeom prst="roundRect">
            <a:avLst>
              <a:gd name="adj" fmla="val 4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5583647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AM-DSB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0" y="5583647"/>
            <a:ext cx="1965960" cy="777240"/>
          </a:xfrm>
          <a:prstGeom prst="roundRect">
            <a:avLst>
              <a:gd name="adj" fmla="val 4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0" y="5583647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37760" y="5583647"/>
            <a:ext cx="1965960" cy="777240"/>
          </a:xfrm>
          <a:prstGeom prst="roundRect">
            <a:avLst>
              <a:gd name="adj" fmla="val 4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55549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QAM16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32320" y="5583647"/>
            <a:ext cx="1965960" cy="777240"/>
          </a:xfrm>
          <a:prstGeom prst="roundRect">
            <a:avLst>
              <a:gd name="adj" fmla="val 4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32320" y="5583647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326880" y="5583647"/>
            <a:ext cx="1965960" cy="777240"/>
          </a:xfrm>
          <a:prstGeom prst="roundRect">
            <a:avLst>
              <a:gd name="adj" fmla="val 4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326880" y="5583647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WBFM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B1A12A-7CE9-2EFD-C55C-70882DAEC0F6}"/>
              </a:ext>
            </a:extLst>
          </p:cNvPr>
          <p:cNvSpPr txBox="1"/>
          <p:nvPr/>
        </p:nvSpPr>
        <p:spPr>
          <a:xfrm>
            <a:off x="548640" y="1127447"/>
            <a:ext cx="109513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an unknown RF signal be automatically identified from its I/Q samples using an AI model?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93C32EA-29DA-512D-E526-DC070B9B2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679" y="-404085"/>
            <a:ext cx="1556215" cy="1556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D81F0E9-C93B-02D0-D710-1CA49F846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41"/>
            <a:ext cx="12192000" cy="67965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b="1" u="sng" dirty="0">
                <a:solidFill>
                  <a:srgbClr val="1E27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Objectives</a:t>
            </a:r>
            <a:endParaRPr lang="en-US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34440" y="12481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RF signal samples from the dataset.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17920" y="1481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03720" y="13716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and preprocess I/Q samples from the dataset. 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285808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889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34440" y="2660904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CNN model for automatic modulation classification. </a:t>
            </a:r>
          </a:p>
        </p:txBody>
      </p:sp>
      <p:sp>
        <p:nvSpPr>
          <p:cNvPr id="12" name="Shape 10"/>
          <p:cNvSpPr/>
          <p:nvPr/>
        </p:nvSpPr>
        <p:spPr>
          <a:xfrm>
            <a:off x="6217920" y="28442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51879" y="281646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03720" y="2734492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five modulation types using the trained model.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1790" y="44251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71790" y="434956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31036" y="4165554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validate the classification system in MATLAB/Simulink. </a:t>
            </a:r>
          </a:p>
        </p:txBody>
      </p:sp>
      <p:sp>
        <p:nvSpPr>
          <p:cNvPr id="19" name="Text 17"/>
          <p:cNvSpPr/>
          <p:nvPr/>
        </p:nvSpPr>
        <p:spPr>
          <a:xfrm>
            <a:off x="621792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55B6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0BEF223-BAD2-23C5-99F9-FA5738DBA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679" y="-404085"/>
            <a:ext cx="1556215" cy="15562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D8C9FF-6826-769A-F8B3-D1D6DB098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41"/>
            <a:ext cx="12192000" cy="67965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b="1" u="sng" dirty="0">
                <a:solidFill>
                  <a:srgbClr val="1E27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7D8F7F4-D8F0-B3DA-9217-9B79A1625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667484"/>
              </p:ext>
            </p:extLst>
          </p:nvPr>
        </p:nvGraphicFramePr>
        <p:xfrm>
          <a:off x="548640" y="1090620"/>
          <a:ext cx="11280687" cy="5401619"/>
        </p:xfrm>
        <a:graphic>
          <a:graphicData uri="http://schemas.openxmlformats.org/drawingml/2006/table">
            <a:tbl>
              <a:tblPr/>
              <a:tblGrid>
                <a:gridCol w="2820172">
                  <a:extLst>
                    <a:ext uri="{9D8B030D-6E8A-4147-A177-3AD203B41FA5}">
                      <a16:colId xmlns:a16="http://schemas.microsoft.com/office/drawing/2014/main" val="2490402226"/>
                    </a:ext>
                  </a:extLst>
                </a:gridCol>
                <a:gridCol w="2388500">
                  <a:extLst>
                    <a:ext uri="{9D8B030D-6E8A-4147-A177-3AD203B41FA5}">
                      <a16:colId xmlns:a16="http://schemas.microsoft.com/office/drawing/2014/main" val="658554104"/>
                    </a:ext>
                  </a:extLst>
                </a:gridCol>
                <a:gridCol w="1672825">
                  <a:extLst>
                    <a:ext uri="{9D8B030D-6E8A-4147-A177-3AD203B41FA5}">
                      <a16:colId xmlns:a16="http://schemas.microsoft.com/office/drawing/2014/main" val="1232043758"/>
                    </a:ext>
                  </a:extLst>
                </a:gridCol>
                <a:gridCol w="4399190">
                  <a:extLst>
                    <a:ext uri="{9D8B030D-6E8A-4147-A177-3AD203B41FA5}">
                      <a16:colId xmlns:a16="http://schemas.microsoft.com/office/drawing/2014/main" val="2263310031"/>
                    </a:ext>
                  </a:extLst>
                </a:gridCol>
              </a:tblGrid>
              <a:tr h="622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(Year)</a:t>
                      </a: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</a:t>
                      </a: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Used</a:t>
                      </a: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 &amp; Gaps</a:t>
                      </a: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313075"/>
                  </a:ext>
                </a:extLst>
              </a:tr>
              <a:tr h="1194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Modulation Classification with Deep Neural Networks</a:t>
                      </a:r>
                    </a:p>
                    <a:p>
                      <a:pPr>
                        <a:buNone/>
                      </a:pP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(2023)</a:t>
                      </a: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MDPI </a:t>
                      </a: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Deep CNN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2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• High AMC performance on </a:t>
                      </a:r>
                      <a:r>
                        <a:rPr lang="en-IN" sz="12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RadioML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2018.01A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• Best model reached 98.9% peak accuracy</a:t>
                      </a:r>
                    </a:p>
                    <a:p>
                      <a:pPr algn="l" rtl="0">
                        <a:buNone/>
                      </a:pP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>
                        <a:buNone/>
                      </a:pPr>
                      <a:r>
                        <a:rPr lang="en-IN" sz="12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Gap:  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modulation classification ,  </a:t>
                      </a:r>
                      <a:r>
                        <a:rPr lang="en-IN" sz="1200" dirty="0"/>
                        <a:t>No real-time hardware implementation.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344761"/>
                  </a:ext>
                </a:extLst>
              </a:tr>
              <a:tr h="1194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Modulation Classification Architecture in Software Defined Radio </a:t>
                      </a:r>
                      <a:r>
                        <a:rPr lang="en-IN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(2024)</a:t>
                      </a: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ScienceDirect</a:t>
                      </a: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1D CNN+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2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Findings: 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Demonstrated real-time AMC using SDR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• CNN </a:t>
                      </a:r>
                      <a:r>
                        <a:rPr lang="en-IN" sz="1200" dirty="0"/>
                        <a:t>can classify signals in real time. </a:t>
                      </a:r>
                    </a:p>
                    <a:p>
                      <a:pPr algn="l" rtl="0">
                        <a:buNone/>
                      </a:pPr>
                      <a:endParaRPr lang="en-IN" sz="1200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>
                        <a:buNone/>
                      </a:pPr>
                      <a:r>
                        <a:rPr lang="en-IN" sz="12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Gap: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/>
                        <a:t>Receiver setup is complex.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551868"/>
                  </a:ext>
                </a:extLst>
              </a:tr>
              <a:tr h="1194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Modulation Recognition using </a:t>
                      </a:r>
                      <a:r>
                        <a:rPr lang="en-IN" sz="1200" dirty="0" err="1"/>
                        <a:t>ResNet</a:t>
                      </a:r>
                      <a:r>
                        <a:rPr lang="en-IN" sz="1200" dirty="0"/>
                        <a:t> + Signal Processing</a:t>
                      </a:r>
                    </a:p>
                    <a:p>
                      <a:pPr>
                        <a:buNone/>
                      </a:pPr>
                      <a:r>
                        <a:rPr lang="en-IN" sz="1200" b="1" dirty="0"/>
                        <a:t> (2025)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Xplore </a:t>
                      </a: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/>
                        <a:t>ResNet</a:t>
                      </a:r>
                      <a:r>
                        <a:rPr lang="en-IN" sz="1200" dirty="0"/>
                        <a:t> + ADALM-Pluto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2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Findings: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Tested modulation recognition using ADALM-PLUTO• ResNet-18 achieved &gt;98% accuracy</a:t>
                      </a:r>
                    </a:p>
                    <a:p>
                      <a:pPr algn="l" rtl="0">
                        <a:buNone/>
                      </a:pP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>
                        <a:buNone/>
                      </a:pPr>
                      <a:r>
                        <a:rPr lang="en-IN" sz="12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Gap: </a:t>
                      </a:r>
                      <a:r>
                        <a:rPr lang="en-IN" sz="1200" dirty="0"/>
                        <a:t>Model is more complex than our CNN.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319350"/>
                  </a:ext>
                </a:extLst>
              </a:tr>
              <a:tr h="1194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Deep Learning AMC using GRU </a:t>
                      </a:r>
                    </a:p>
                    <a:p>
                      <a:pPr>
                        <a:buNone/>
                      </a:pPr>
                      <a:r>
                        <a:rPr lang="en-IN" sz="1200" b="1" dirty="0"/>
                        <a:t>(2023)</a:t>
                      </a:r>
                      <a:endParaRPr lang="en-IN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 Nature</a:t>
                      </a: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GRU + I/Q features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2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Findings: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Combined I/Q and A/P features to improve AMC, especially at low SNR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Evaluated using RadioML data with 128-sample inputs</a:t>
                      </a:r>
                    </a:p>
                    <a:p>
                      <a:pPr algn="l" rtl="0">
                        <a:buNone/>
                      </a:pPr>
                      <a:endParaRPr lang="en-IN" sz="1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>
                        <a:buNone/>
                      </a:pPr>
                      <a:r>
                        <a:rPr lang="en-IN" sz="12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Gap:</a:t>
                      </a:r>
                      <a:r>
                        <a:rPr lang="en-IN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200" dirty="0"/>
                        <a:t>Uses multiple features, increasing complexity.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200" marR="55200" marT="27600" marB="276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674999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F5F5250A-40AD-6A5E-1354-2174CE795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679" y="-404085"/>
            <a:ext cx="1556215" cy="15562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A77D49-B046-1392-40E5-824B00CC9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41"/>
            <a:ext cx="12192000" cy="67965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b="1" u="sng" dirty="0">
                <a:solidFill>
                  <a:srgbClr val="1E27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</a:t>
            </a:r>
            <a:endParaRPr lang="en-US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IN EXISTING APPROACHES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▪"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22860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“Develop a digital-twin workflow that first validates AI-based modulation classification using RadioML I/Q samples, and subsequently transfers the same classification pipeline to real-time ADALM-Pluto I/Q data.”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892723A-29E2-68AD-8AB0-C833F03F9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964641"/>
              </p:ext>
            </p:extLst>
          </p:nvPr>
        </p:nvGraphicFramePr>
        <p:xfrm>
          <a:off x="758952" y="2033556"/>
          <a:ext cx="10515600" cy="386288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099937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017605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07929164"/>
                    </a:ext>
                  </a:extLst>
                </a:gridCol>
              </a:tblGrid>
              <a:tr h="77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Solution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495965"/>
                  </a:ext>
                </a:extLst>
              </a:tr>
              <a:tr h="77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dataset/model evaluation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the CNN in MATLAB/Simulink and prepare it for ADALM_PLUTO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499551"/>
                  </a:ext>
                </a:extLst>
              </a:tr>
              <a:tr h="77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2024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Relatively complex real-time receiver architecture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a simpler CNN-based classification pipeline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797280"/>
                  </a:ext>
                </a:extLst>
              </a:tr>
              <a:tr h="77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ResNet + signal-processing fusion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a simpler CNN pipeline with direct I/Q input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436756"/>
                  </a:ext>
                </a:extLst>
              </a:tr>
              <a:tr h="772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Multi-feature fusion increases complexity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raw 2 × 128 I/Q samples as the CNN input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82593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C5201647-FBD2-437A-CE95-2169B9D69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679" y="-404085"/>
            <a:ext cx="1556215" cy="15562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10EA6A7-E6BE-4C12-B9E0-E933720D8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41"/>
            <a:ext cx="12192000" cy="67965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b="1" u="sng" dirty="0">
                <a:solidFill>
                  <a:srgbClr val="1E27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CURRENT(Simulation using Data Set 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074920" cy="523821"/>
          </a:xfrm>
          <a:prstGeom prst="roundRect">
            <a:avLst>
              <a:gd name="adj" fmla="val 12219"/>
            </a:avLst>
          </a:prstGeom>
          <a:solidFill>
            <a:srgbClr val="F3F6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4983480" cy="523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RadioML Dataset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58668" y="2410270"/>
            <a:ext cx="146304" cy="175028"/>
          </a:xfrm>
          <a:prstGeom prst="downArrow">
            <a:avLst/>
          </a:prstGeom>
          <a:solidFill>
            <a:srgbClr val="3D5A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2631089"/>
            <a:ext cx="5074920" cy="523821"/>
          </a:xfrm>
          <a:prstGeom prst="roundRect">
            <a:avLst>
              <a:gd name="adj" fmla="val 12219"/>
            </a:avLst>
          </a:prstGeom>
          <a:solidFill>
            <a:srgbClr val="F3F6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2688985"/>
            <a:ext cx="4983480" cy="523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Selection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47673" y="3293248"/>
            <a:ext cx="146304" cy="158902"/>
          </a:xfrm>
          <a:prstGeom prst="downArrow">
            <a:avLst/>
          </a:prstGeom>
          <a:solidFill>
            <a:srgbClr val="3D5A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48640" y="3598765"/>
            <a:ext cx="5074920" cy="523821"/>
          </a:xfrm>
          <a:prstGeom prst="roundRect">
            <a:avLst>
              <a:gd name="adj" fmla="val 12219"/>
            </a:avLst>
          </a:prstGeom>
          <a:solidFill>
            <a:srgbClr val="F3F6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3598765"/>
            <a:ext cx="4983480" cy="523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I/Q Data (2 × 128)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012948" y="4120803"/>
            <a:ext cx="146304" cy="150337"/>
          </a:xfrm>
          <a:prstGeom prst="downArrow">
            <a:avLst/>
          </a:prstGeom>
          <a:solidFill>
            <a:srgbClr val="3D5A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4360" y="4372190"/>
            <a:ext cx="5074920" cy="393555"/>
          </a:xfrm>
          <a:prstGeom prst="roundRect">
            <a:avLst>
              <a:gd name="adj" fmla="val 12219"/>
            </a:avLst>
          </a:prstGeom>
          <a:solidFill>
            <a:srgbClr val="F3F6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4360550"/>
            <a:ext cx="4983480" cy="393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12948" y="4894047"/>
            <a:ext cx="146304" cy="153766"/>
          </a:xfrm>
          <a:prstGeom prst="downArrow">
            <a:avLst/>
          </a:prstGeom>
          <a:solidFill>
            <a:srgbClr val="3D5A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48640" y="5128864"/>
            <a:ext cx="5074920" cy="393555"/>
          </a:xfrm>
          <a:prstGeom prst="roundRect">
            <a:avLst>
              <a:gd name="adj" fmla="val 12219"/>
            </a:avLst>
          </a:prstGeom>
          <a:solidFill>
            <a:srgbClr val="F3F6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5128864"/>
            <a:ext cx="4983480" cy="393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 Prediction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012948" y="5650721"/>
            <a:ext cx="146304" cy="121499"/>
          </a:xfrm>
          <a:prstGeom prst="downArrow">
            <a:avLst/>
          </a:prstGeom>
          <a:solidFill>
            <a:srgbClr val="3D5A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29770" y="5868309"/>
            <a:ext cx="5074920" cy="393555"/>
          </a:xfrm>
          <a:prstGeom prst="roundRect">
            <a:avLst>
              <a:gd name="adj" fmla="val 12219"/>
            </a:avLst>
          </a:prstGeom>
          <a:solidFill>
            <a:srgbClr val="F3F6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04240" y="5866510"/>
            <a:ext cx="4180840" cy="393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Dataset </a:t>
            </a: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80760" y="1170432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3D5A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080760" y="11704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(FUTURE WORK (ADALM-PLUTO implementation)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80760" y="1828800"/>
            <a:ext cx="5074920" cy="784555"/>
          </a:xfrm>
          <a:prstGeom prst="roundRect">
            <a:avLst>
              <a:gd name="adj" fmla="val 8159"/>
            </a:avLst>
          </a:prstGeom>
          <a:solidFill>
            <a:srgbClr val="CADCFC"/>
          </a:solidFill>
          <a:ln w="12700">
            <a:solidFill>
              <a:srgbClr val="3D5A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26480" y="1828800"/>
            <a:ext cx="4983480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ADALM-PLUTO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45068" y="2613355"/>
            <a:ext cx="146304" cy="128016"/>
          </a:xfrm>
          <a:prstGeom prst="downArrow">
            <a:avLst/>
          </a:prstGeom>
          <a:solidFill>
            <a:srgbClr val="3D5A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080760" y="2741371"/>
            <a:ext cx="5074920" cy="605623"/>
          </a:xfrm>
          <a:prstGeom prst="roundRect">
            <a:avLst>
              <a:gd name="adj" fmla="val 8159"/>
            </a:avLst>
          </a:prstGeom>
          <a:solidFill>
            <a:srgbClr val="CADCFC"/>
          </a:solidFill>
          <a:ln w="12700">
            <a:solidFill>
              <a:srgbClr val="3D5A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26480" y="2585676"/>
            <a:ext cx="4983480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RF Signal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Arrow: Left-Up 43">
            <a:extLst>
              <a:ext uri="{FF2B5EF4-FFF2-40B4-BE49-F238E27FC236}">
                <a16:creationId xmlns:a16="http://schemas.microsoft.com/office/drawing/2014/main" id="{2512742A-943B-001E-B962-92BF583B4FF2}"/>
              </a:ext>
            </a:extLst>
          </p:cNvPr>
          <p:cNvSpPr/>
          <p:nvPr/>
        </p:nvSpPr>
        <p:spPr>
          <a:xfrm>
            <a:off x="8466400" y="3649965"/>
            <a:ext cx="449943" cy="464053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59DE538-2F43-C25C-D4D7-F71C87253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1372" y="3567173"/>
            <a:ext cx="267798" cy="27337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CD19EB0-705C-E1DA-04DD-30E22EE5E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8679" y="-404085"/>
            <a:ext cx="1556215" cy="15562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DBA98-2E8B-25B6-0A47-61D57C7B0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C18912-41E0-3444-F113-5FA4509EF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41"/>
            <a:ext cx="12192000" cy="6796519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F8F3D342-C566-8C88-2CA8-DE1E5D5F6CAF}"/>
              </a:ext>
            </a:extLst>
          </p:cNvPr>
          <p:cNvSpPr/>
          <p:nvPr/>
        </p:nvSpPr>
        <p:spPr>
          <a:xfrm>
            <a:off x="477007" y="77121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b="1" u="sng" dirty="0">
                <a:solidFill>
                  <a:srgbClr val="1E27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Work Completed </a:t>
            </a:r>
            <a:endParaRPr lang="en-US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D46D6A-5971-196D-27F6-AB51882839E3}"/>
              </a:ext>
            </a:extLst>
          </p:cNvPr>
          <p:cNvSpPr/>
          <p:nvPr/>
        </p:nvSpPr>
        <p:spPr>
          <a:xfrm>
            <a:off x="1305431" y="1705856"/>
            <a:ext cx="10263247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collected and loaded   (</a:t>
            </a:r>
            <a:r>
              <a:rPr lang="en-IN" sz="2000" b="1" dirty="0" err="1"/>
              <a:t>RadioML</a:t>
            </a:r>
            <a:r>
              <a:rPr lang="en-IN" sz="2000" b="1" dirty="0"/>
              <a:t> 2016.10a </a:t>
            </a:r>
            <a:r>
              <a:rPr lang="en-IN" sz="2000" dirty="0"/>
              <a:t>dataset from </a:t>
            </a:r>
            <a:r>
              <a:rPr lang="en-IN" sz="2000" dirty="0" err="1"/>
              <a:t>DeepSig</a:t>
            </a:r>
            <a:r>
              <a:rPr lang="en-IN" sz="2000" dirty="0"/>
              <a:t> 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I/Q samples extracted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modulation classes selected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 trained and evaluated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85.86% classification accuracy achieved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MATLAB/Simulink model developed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number-based signal selection implemented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I/Q values, SNR, actual label and AI prediction verified in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simulink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67A7864-C304-FD13-EA6D-BABB2E37B711}"/>
              </a:ext>
            </a:extLst>
          </p:cNvPr>
          <p:cNvSpPr/>
          <p:nvPr/>
        </p:nvSpPr>
        <p:spPr>
          <a:xfrm>
            <a:off x="11405608" y="6542916"/>
            <a:ext cx="326143" cy="223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21C532-479B-0B7E-50C5-42477C51F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679" y="-404085"/>
            <a:ext cx="1556215" cy="155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671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F8B681C-9D9C-2865-1591-3EC45B7D6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41"/>
            <a:ext cx="12192000" cy="67965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b="1" u="sng" dirty="0">
                <a:solidFill>
                  <a:srgbClr val="1E27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Results</a:t>
            </a:r>
            <a:endParaRPr lang="en-US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880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85.86%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Model Accuracy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03320" y="12801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3F6FC"/>
          </a:solidFill>
          <a:ln w="1270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703320" y="13716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70332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 Classes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2801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3F6FC"/>
          </a:solidFill>
          <a:ln w="1270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3716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× 128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I/Q Input Format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281160" y="12801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3F6FC"/>
          </a:solidFill>
          <a:ln w="1270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281160" y="13716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MATLAB /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Simulink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28116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Platform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448414" y="6419725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:</a:t>
            </a:r>
            <a:r>
              <a:rPr lang="en-US" sz="20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Click Here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35EFF2-630C-8E6A-A597-E68A22D9039C}"/>
              </a:ext>
            </a:extLst>
          </p:cNvPr>
          <p:cNvSpPr txBox="1"/>
          <p:nvPr/>
        </p:nvSpPr>
        <p:spPr>
          <a:xfrm>
            <a:off x="259080" y="4100512"/>
            <a:ext cx="86433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Sample No </a:t>
            </a:r>
            <a:r>
              <a:rPr lang="en-IN" dirty="0"/>
              <a:t>→ CNN →  AI Prediction</a:t>
            </a:r>
          </a:p>
          <a:p>
            <a:r>
              <a:rPr lang="en-IN" dirty="0"/>
              <a:t>                     ↓</a:t>
            </a:r>
          </a:p>
          <a:p>
            <a:r>
              <a:rPr lang="en-IN" dirty="0"/>
              <a:t>              Actual Label</a:t>
            </a:r>
          </a:p>
          <a:p>
            <a:r>
              <a:rPr lang="en-IN" dirty="0"/>
              <a:t>                   ↓</a:t>
            </a:r>
          </a:p>
          <a:p>
            <a:r>
              <a:rPr lang="en-IN" dirty="0"/>
              <a:t>               I / Q / SNR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B136EBAA-AFF7-F813-2FAB-94A56D84400C}"/>
              </a:ext>
            </a:extLst>
          </p:cNvPr>
          <p:cNvGraphicFramePr>
            <a:graphicFrameLocks noGrp="1"/>
          </p:cNvGraphicFramePr>
          <p:nvPr/>
        </p:nvGraphicFramePr>
        <p:xfrm>
          <a:off x="3804920" y="3749040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2534765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890880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896588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148763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AI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SNR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625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QPSK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QPSK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81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AM-DSB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AM-DSB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-4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2102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BPSK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BPSK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59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QAM16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QAM16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413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WBFM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WBFM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-18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984471"/>
                  </a:ext>
                </a:extLst>
              </a:tr>
            </a:tbl>
          </a:graphicData>
        </a:graphic>
      </p:graphicFrame>
      <p:pic>
        <p:nvPicPr>
          <p:cNvPr id="36" name="Picture 35">
            <a:extLst>
              <a:ext uri="{FF2B5EF4-FFF2-40B4-BE49-F238E27FC236}">
                <a16:creationId xmlns:a16="http://schemas.microsoft.com/office/drawing/2014/main" id="{B564EECB-1210-815C-EEE1-ADFD181E3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8679" y="-404085"/>
            <a:ext cx="1556215" cy="15562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AC6057E4-7EBC-63E7-F417-CDB7FD4D5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41"/>
            <a:ext cx="12192000" cy="67965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70848" y="376177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b="1" u="sng" dirty="0">
                <a:solidFill>
                  <a:srgbClr val="1E27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hape 1"/>
          <p:cNvSpPr/>
          <p:nvPr/>
        </p:nvSpPr>
        <p:spPr>
          <a:xfrm>
            <a:off x="1024128" y="1463040"/>
            <a:ext cx="0" cy="4471416"/>
          </a:xfrm>
          <a:prstGeom prst="line">
            <a:avLst/>
          </a:prstGeom>
          <a:noFill/>
          <a:ln w="25400">
            <a:solidFill>
              <a:srgbClr val="D7DE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411480" cy="411480"/>
          </a:xfrm>
          <a:prstGeom prst="ellipse">
            <a:avLst/>
          </a:prstGeom>
          <a:solidFill>
            <a:srgbClr val="3D5AA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08760" y="12984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/>
              <a:t>Connect and configure the ADALM-Pluto for RF signal reception.</a:t>
            </a:r>
          </a:p>
        </p:txBody>
      </p:sp>
      <p:sp>
        <p:nvSpPr>
          <p:cNvPr id="7" name="Shape 5"/>
          <p:cNvSpPr/>
          <p:nvPr/>
        </p:nvSpPr>
        <p:spPr>
          <a:xfrm>
            <a:off x="822960" y="2029968"/>
            <a:ext cx="411480" cy="4114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08760" y="195681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/>
              <a:t>Capture real-time I/Q samples using ADALM-Pluto.</a:t>
            </a:r>
          </a:p>
        </p:txBody>
      </p:sp>
      <p:sp>
        <p:nvSpPr>
          <p:cNvPr id="10" name="Shape 8"/>
          <p:cNvSpPr/>
          <p:nvPr/>
        </p:nvSpPr>
        <p:spPr>
          <a:xfrm>
            <a:off x="822960" y="2688336"/>
            <a:ext cx="411480" cy="4114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08760" y="261518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/>
              <a:t>Feed the captured I/Q samples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22960" y="3346704"/>
            <a:ext cx="411480" cy="4114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08760" y="327355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/>
              <a:t>Finding live RF signals using the trained AI model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22960" y="4005072"/>
            <a:ext cx="411480" cy="4114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08760" y="405993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dirty="0"/>
              <a:t>Evaluate the real-time classification performance.</a:t>
            </a:r>
          </a:p>
          <a:p>
            <a:endParaRPr lang="en-IN" b="1" dirty="0"/>
          </a:p>
        </p:txBody>
      </p:sp>
      <p:sp>
        <p:nvSpPr>
          <p:cNvPr id="19" name="Shape 17"/>
          <p:cNvSpPr/>
          <p:nvPr/>
        </p:nvSpPr>
        <p:spPr>
          <a:xfrm>
            <a:off x="822960" y="4663440"/>
            <a:ext cx="411480" cy="4114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2296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508760" y="459028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software integration and final validation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22960" y="5321808"/>
            <a:ext cx="411480" cy="4114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2960" y="5321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508760" y="524865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comparison: dataset-based vs. real-time classification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5C5FFCB-9F02-FB39-DA8B-E35FFAF0E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679" y="-404085"/>
            <a:ext cx="1556215" cy="15562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automatic modulation classification system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developed using the RadioML dataset.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I/Q samples were processed and classified using a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 model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85.86% classification accuracy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five modulation classes.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complete dataset-based classification workflow was implemented and validated in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MATLAB/Simulink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now ready for the next stage: 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RF signal acquisition using ADALM-Pluto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39319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3D5A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4111617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85.86%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4663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38862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3D5A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29000" y="38862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429000" y="4617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 Classes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5060" y="39319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3D5A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3925265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RadioML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217920" y="4617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 Source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29700" y="39319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3D5A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006840" y="38862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ADALM-Pluto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006840" y="4617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Final-Stage Hardware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2FBA673-BCAE-0F34-B45E-4FB3080FE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679" y="-404085"/>
            <a:ext cx="1556215" cy="15562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69B2586-8E02-B5BC-5C30-F02F59542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41"/>
            <a:ext cx="12192000" cy="67965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b="1" u="sng" dirty="0">
                <a:solidFill>
                  <a:srgbClr val="1E27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343821"/>
            <a:ext cx="11091672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Harper et al., Automatic Modulation Classification with Deep Neural Networks, Electronics, 2023.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et al., Real-time Modulation Classification Architecture in Software Defined Radio, Physical Communication, 2024.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Lai et al., Modulation Recognition Based on Multi-modal Fusion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Traditional Signal Processing, IEEE MTT-S IWS, 2025.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 &amp; Wang, A Novel Deep Learning Automatic Modulation Classifier with Fusion of Multichannel Information Using GRU, Wireless Networks, 2023.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RadioML Dataset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dataset used for the current implementation.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Devices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ADALM-Pluto documentation.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588621-7DEE-A536-71C5-3C21910EE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679" y="-404085"/>
            <a:ext cx="1556215" cy="15562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D03ACB-E84F-37A8-BD14-79FDBD909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741"/>
            <a:ext cx="12192000" cy="67965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2194560"/>
            <a:ext cx="1097280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304800" y="6364224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Subject: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Software-Defined Communication Systems </a:t>
            </a:r>
            <a:endParaRPr lang="en-US" sz="1733" b="1" dirty="0"/>
          </a:p>
        </p:txBody>
      </p:sp>
      <p:pic>
        <p:nvPicPr>
          <p:cNvPr id="6" name="Image 0" descr="/home/claude/amrita_logo_transparent.png">
            <a:extLst>
              <a:ext uri="{FF2B5EF4-FFF2-40B4-BE49-F238E27FC236}">
                <a16:creationId xmlns:a16="http://schemas.microsoft.com/office/drawing/2014/main" id="{5031DDF0-E97A-278A-0AB7-FDC42422D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6438" y="97536"/>
            <a:ext cx="1742681" cy="6516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1027</Words>
  <Application>Microsoft Office PowerPoint</Application>
  <PresentationFormat>Widescreen</PresentationFormat>
  <Paragraphs>218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YAGzXW3gftg_0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Sathwik.P - [CB.AI.U4AID25041]</cp:lastModifiedBy>
  <cp:revision>6</cp:revision>
  <dcterms:created xsi:type="dcterms:W3CDTF">2026-08-16T15:05:49Z</dcterms:created>
  <dcterms:modified xsi:type="dcterms:W3CDTF">2026-08-17T03:52:45Z</dcterms:modified>
</cp:coreProperties>
</file>