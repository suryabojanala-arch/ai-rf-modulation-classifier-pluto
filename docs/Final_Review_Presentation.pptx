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2" r:id="rId6"/>
    <p:sldId id="263" r:id="rId7"/>
    <p:sldId id="266" r:id="rId8"/>
    <p:sldId id="268" r:id="rId9"/>
    <p:sldId id="269" r:id="rId10"/>
    <p:sldId id="273" r:id="rId11"/>
    <p:sldId id="274" r:id="rId12"/>
    <p:sldId id="275" r:id="rId13"/>
    <p:sldId id="277" r:id="rId14"/>
    <p:sldId id="278" r:id="rId15"/>
    <p:sldId id="279" r:id="rId16"/>
    <p:sldId id="28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799CFC4-50D8-4065-A1E2-BF3EC783D0E3}">
          <p14:sldIdLst>
            <p14:sldId id="256"/>
            <p14:sldId id="258"/>
            <p14:sldId id="259"/>
            <p14:sldId id="260"/>
          </p14:sldIdLst>
        </p14:section>
        <p14:section name="Implementation" id="{401D8FFC-3435-497D-A926-CBB4B949CAB8}">
          <p14:sldIdLst>
            <p14:sldId id="262"/>
            <p14:sldId id="263"/>
            <p14:sldId id="266"/>
            <p14:sldId id="268"/>
            <p14:sldId id="269"/>
            <p14:sldId id="273"/>
            <p14:sldId id="274"/>
            <p14:sldId id="275"/>
            <p14:sldId id="277"/>
          </p14:sldIdLst>
        </p14:section>
        <p14:section name="Results" id="{A8393DEF-61F9-420C-8AC3-12C503962254}">
          <p14:sldIdLst>
            <p14:sldId id="278"/>
            <p14:sldId id="279"/>
          </p14:sldIdLst>
        </p14:section>
        <p14:section name="Conclusion" id="{30C9011A-121A-4D02-B6ED-F673D7128357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0C99A0-0590-4E9C-82D4-0A143A0B387D}" v="5" dt="2026-10-23T06:11:40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 charan tej" userId="7bfc93c4e3559cc9" providerId="LiveId" clId="{507683E5-AD17-4648-9DE4-8A327B890C10}"/>
    <pc:docChg chg="undo redo custSel delSld modSld sldOrd modSection">
      <pc:chgData name="surya charan tej" userId="7bfc93c4e3559cc9" providerId="LiveId" clId="{507683E5-AD17-4648-9DE4-8A327B890C10}" dt="2026-10-23T08:44:37.476" v="111" actId="20577"/>
      <pc:docMkLst>
        <pc:docMk/>
      </pc:docMkLst>
      <pc:sldChg chg="modSp mod">
        <pc:chgData name="surya charan tej" userId="7bfc93c4e3559cc9" providerId="LiveId" clId="{507683E5-AD17-4648-9DE4-8A327B890C10}" dt="2026-10-23T08:44:37.476" v="111" actId="20577"/>
        <pc:sldMkLst>
          <pc:docMk/>
          <pc:sldMk cId="1203376049" sldId="258"/>
        </pc:sldMkLst>
        <pc:spChg chg="mod">
          <ac:chgData name="surya charan tej" userId="7bfc93c4e3559cc9" providerId="LiveId" clId="{507683E5-AD17-4648-9DE4-8A327B890C10}" dt="2026-10-23T05:07:54.306" v="70" actId="20577"/>
          <ac:spMkLst>
            <pc:docMk/>
            <pc:sldMk cId="1203376049" sldId="258"/>
            <ac:spMk id="5" creationId="{E65BEAC7-0C78-AE00-9A1F-EE703BF15D56}"/>
          </ac:spMkLst>
        </pc:spChg>
        <pc:spChg chg="mod">
          <ac:chgData name="surya charan tej" userId="7bfc93c4e3559cc9" providerId="LiveId" clId="{507683E5-AD17-4648-9DE4-8A327B890C10}" dt="2026-10-23T08:44:37.476" v="111" actId="20577"/>
          <ac:spMkLst>
            <pc:docMk/>
            <pc:sldMk cId="1203376049" sldId="258"/>
            <ac:spMk id="6" creationId="{58F4B48C-E96D-0D67-ADD0-7C0CB5F5CC60}"/>
          </ac:spMkLst>
        </pc:spChg>
      </pc:sldChg>
      <pc:sldChg chg="modSp mod">
        <pc:chgData name="surya charan tej" userId="7bfc93c4e3559cc9" providerId="LiveId" clId="{507683E5-AD17-4648-9DE4-8A327B890C10}" dt="2026-10-23T05:07:54.353" v="71" actId="20577"/>
        <pc:sldMkLst>
          <pc:docMk/>
          <pc:sldMk cId="2919909750" sldId="259"/>
        </pc:sldMkLst>
        <pc:spChg chg="mod">
          <ac:chgData name="surya charan tej" userId="7bfc93c4e3559cc9" providerId="LiveId" clId="{507683E5-AD17-4648-9DE4-8A327B890C10}" dt="2026-10-23T05:07:54.353" v="71" actId="20577"/>
          <ac:spMkLst>
            <pc:docMk/>
            <pc:sldMk cId="2919909750" sldId="259"/>
            <ac:spMk id="5" creationId="{36159D95-91D4-3945-AF29-ED3CEC421D2C}"/>
          </ac:spMkLst>
        </pc:spChg>
      </pc:sldChg>
      <pc:sldChg chg="modSp mod">
        <pc:chgData name="surya charan tej" userId="7bfc93c4e3559cc9" providerId="LiveId" clId="{507683E5-AD17-4648-9DE4-8A327B890C10}" dt="2026-10-23T05:07:54.370" v="72" actId="20577"/>
        <pc:sldMkLst>
          <pc:docMk/>
          <pc:sldMk cId="2300216340" sldId="260"/>
        </pc:sldMkLst>
        <pc:spChg chg="mod">
          <ac:chgData name="surya charan tej" userId="7bfc93c4e3559cc9" providerId="LiveId" clId="{507683E5-AD17-4648-9DE4-8A327B890C10}" dt="2026-10-23T05:07:54.370" v="72" actId="20577"/>
          <ac:spMkLst>
            <pc:docMk/>
            <pc:sldMk cId="2300216340" sldId="260"/>
            <ac:spMk id="5" creationId="{1B399CE5-4ECB-0061-F652-EE355672ACD5}"/>
          </ac:spMkLst>
        </pc:spChg>
      </pc:sldChg>
      <pc:sldChg chg="modSp mod">
        <pc:chgData name="surya charan tej" userId="7bfc93c4e3559cc9" providerId="LiveId" clId="{507683E5-AD17-4648-9DE4-8A327B890C10}" dt="2026-10-23T05:07:54.432" v="73" actId="20577"/>
        <pc:sldMkLst>
          <pc:docMk/>
          <pc:sldMk cId="2546670724" sldId="262"/>
        </pc:sldMkLst>
        <pc:spChg chg="mod">
          <ac:chgData name="surya charan tej" userId="7bfc93c4e3559cc9" providerId="LiveId" clId="{507683E5-AD17-4648-9DE4-8A327B890C10}" dt="2026-10-23T05:07:54.432" v="73" actId="20577"/>
          <ac:spMkLst>
            <pc:docMk/>
            <pc:sldMk cId="2546670724" sldId="262"/>
            <ac:spMk id="5" creationId="{5138885F-F3CF-A962-FA50-A585574462AD}"/>
          </ac:spMkLst>
        </pc:spChg>
      </pc:sldChg>
      <pc:sldChg chg="modSp mod">
        <pc:chgData name="surya charan tej" userId="7bfc93c4e3559cc9" providerId="LiveId" clId="{507683E5-AD17-4648-9DE4-8A327B890C10}" dt="2026-10-23T05:07:54.479" v="74" actId="20577"/>
        <pc:sldMkLst>
          <pc:docMk/>
          <pc:sldMk cId="2275834471" sldId="263"/>
        </pc:sldMkLst>
        <pc:spChg chg="mod">
          <ac:chgData name="surya charan tej" userId="7bfc93c4e3559cc9" providerId="LiveId" clId="{507683E5-AD17-4648-9DE4-8A327B890C10}" dt="2026-10-23T05:07:54.479" v="74" actId="20577"/>
          <ac:spMkLst>
            <pc:docMk/>
            <pc:sldMk cId="2275834471" sldId="263"/>
            <ac:spMk id="5" creationId="{6EC360C9-8E3B-B076-5865-8A45B63E3CB8}"/>
          </ac:spMkLst>
        </pc:spChg>
        <pc:spChg chg="mod">
          <ac:chgData name="surya charan tej" userId="7bfc93c4e3559cc9" providerId="LiveId" clId="{507683E5-AD17-4648-9DE4-8A327B890C10}" dt="2026-10-23T04:26:34.031" v="15" actId="20577"/>
          <ac:spMkLst>
            <pc:docMk/>
            <pc:sldMk cId="2275834471" sldId="263"/>
            <ac:spMk id="18" creationId="{DE921A19-C6B8-10ED-2FC3-D7EC10564199}"/>
          </ac:spMkLst>
        </pc:spChg>
      </pc:sldChg>
      <pc:sldChg chg="addSp delSp modSp mod">
        <pc:chgData name="surya charan tej" userId="7bfc93c4e3559cc9" providerId="LiveId" clId="{507683E5-AD17-4648-9DE4-8A327B890C10}" dt="2026-10-23T05:07:54.509" v="75" actId="20577"/>
        <pc:sldMkLst>
          <pc:docMk/>
          <pc:sldMk cId="595763524" sldId="266"/>
        </pc:sldMkLst>
        <pc:spChg chg="mod">
          <ac:chgData name="surya charan tej" userId="7bfc93c4e3559cc9" providerId="LiveId" clId="{507683E5-AD17-4648-9DE4-8A327B890C10}" dt="2026-10-23T04:27:35.859" v="44" actId="1076"/>
          <ac:spMkLst>
            <pc:docMk/>
            <pc:sldMk cId="595763524" sldId="266"/>
            <ac:spMk id="2" creationId="{F66B727F-560E-CDA9-A202-3FDCD273DBAF}"/>
          </ac:spMkLst>
        </pc:spChg>
        <pc:spChg chg="mod">
          <ac:chgData name="surya charan tej" userId="7bfc93c4e3559cc9" providerId="LiveId" clId="{507683E5-AD17-4648-9DE4-8A327B890C10}" dt="2026-10-23T05:07:54.509" v="75" actId="20577"/>
          <ac:spMkLst>
            <pc:docMk/>
            <pc:sldMk cId="595763524" sldId="266"/>
            <ac:spMk id="5" creationId="{1A88590D-AD30-0190-CF0D-30F48C588361}"/>
          </ac:spMkLst>
        </pc:spChg>
        <pc:spChg chg="mod">
          <ac:chgData name="surya charan tej" userId="7bfc93c4e3559cc9" providerId="LiveId" clId="{507683E5-AD17-4648-9DE4-8A327B890C10}" dt="2026-10-23T04:26:58.537" v="26" actId="20577"/>
          <ac:spMkLst>
            <pc:docMk/>
            <pc:sldMk cId="595763524" sldId="266"/>
            <ac:spMk id="8" creationId="{1E99F081-ED9D-5AF6-4902-5015025FEE18}"/>
          </ac:spMkLst>
        </pc:spChg>
        <pc:spChg chg="mod">
          <ac:chgData name="surya charan tej" userId="7bfc93c4e3559cc9" providerId="LiveId" clId="{507683E5-AD17-4648-9DE4-8A327B890C10}" dt="2026-10-23T04:27:00.199" v="27" actId="20577"/>
          <ac:spMkLst>
            <pc:docMk/>
            <pc:sldMk cId="595763524" sldId="266"/>
            <ac:spMk id="9" creationId="{3A3F2804-AEDF-3C94-62F5-78239CBCBDA2}"/>
          </ac:spMkLst>
        </pc:spChg>
        <pc:spChg chg="mod">
          <ac:chgData name="surya charan tej" userId="7bfc93c4e3559cc9" providerId="LiveId" clId="{507683E5-AD17-4648-9DE4-8A327B890C10}" dt="2026-10-23T04:27:26.516" v="41" actId="1076"/>
          <ac:spMkLst>
            <pc:docMk/>
            <pc:sldMk cId="595763524" sldId="266"/>
            <ac:spMk id="10" creationId="{6F00C78D-2CEF-7AC9-F425-820EB34F2B89}"/>
          </ac:spMkLst>
        </pc:spChg>
        <pc:spChg chg="mod">
          <ac:chgData name="surya charan tej" userId="7bfc93c4e3559cc9" providerId="LiveId" clId="{507683E5-AD17-4648-9DE4-8A327B890C10}" dt="2026-10-23T04:27:16.062" v="36" actId="1076"/>
          <ac:spMkLst>
            <pc:docMk/>
            <pc:sldMk cId="595763524" sldId="266"/>
            <ac:spMk id="11" creationId="{D6DCE7B8-B7C9-5709-FA63-1B73A6EA41EB}"/>
          </ac:spMkLst>
        </pc:spChg>
        <pc:spChg chg="mod">
          <ac:chgData name="surya charan tej" userId="7bfc93c4e3559cc9" providerId="LiveId" clId="{507683E5-AD17-4648-9DE4-8A327B890C10}" dt="2026-10-23T04:27:07.510" v="32" actId="20577"/>
          <ac:spMkLst>
            <pc:docMk/>
            <pc:sldMk cId="595763524" sldId="266"/>
            <ac:spMk id="12" creationId="{79BCA06A-80A7-24D8-CA16-CF67F8A36FC1}"/>
          </ac:spMkLst>
        </pc:spChg>
        <pc:spChg chg="add del mod">
          <ac:chgData name="surya charan tej" userId="7bfc93c4e3559cc9" providerId="LiveId" clId="{507683E5-AD17-4648-9DE4-8A327B890C10}" dt="2026-10-23T04:26:51.660" v="24" actId="478"/>
          <ac:spMkLst>
            <pc:docMk/>
            <pc:sldMk cId="595763524" sldId="266"/>
            <ac:spMk id="13" creationId="{0DF8435C-E6AB-688E-5177-57E0E0A8A286}"/>
          </ac:spMkLst>
        </pc:spChg>
        <pc:picChg chg="mod">
          <ac:chgData name="surya charan tej" userId="7bfc93c4e3559cc9" providerId="LiveId" clId="{507683E5-AD17-4648-9DE4-8A327B890C10}" dt="2026-10-23T04:27:27.956" v="42" actId="1076"/>
          <ac:picMkLst>
            <pc:docMk/>
            <pc:sldMk cId="595763524" sldId="266"/>
            <ac:picMk id="7" creationId="{1EF1C348-4139-2E77-522A-2BD1ADB2D9EF}"/>
          </ac:picMkLst>
        </pc:picChg>
      </pc:sldChg>
      <pc:sldChg chg="modSp mod">
        <pc:chgData name="surya charan tej" userId="7bfc93c4e3559cc9" providerId="LiveId" clId="{507683E5-AD17-4648-9DE4-8A327B890C10}" dt="2026-10-23T05:50:30.138" v="108" actId="20577"/>
        <pc:sldMkLst>
          <pc:docMk/>
          <pc:sldMk cId="435696359" sldId="268"/>
        </pc:sldMkLst>
        <pc:spChg chg="mod">
          <ac:chgData name="surya charan tej" userId="7bfc93c4e3559cc9" providerId="LiveId" clId="{507683E5-AD17-4648-9DE4-8A327B890C10}" dt="2026-10-23T05:07:54.535" v="76" actId="20577"/>
          <ac:spMkLst>
            <pc:docMk/>
            <pc:sldMk cId="435696359" sldId="268"/>
            <ac:spMk id="5" creationId="{9AC2E55B-9CD4-4A8E-3BB8-7D308C9E3728}"/>
          </ac:spMkLst>
        </pc:spChg>
        <pc:spChg chg="mod">
          <ac:chgData name="surya charan tej" userId="7bfc93c4e3559cc9" providerId="LiveId" clId="{507683E5-AD17-4648-9DE4-8A327B890C10}" dt="2026-10-23T05:50:22.686" v="104" actId="20577"/>
          <ac:spMkLst>
            <pc:docMk/>
            <pc:sldMk cId="435696359" sldId="268"/>
            <ac:spMk id="8" creationId="{9AC771CF-B1D1-8ADF-6F6E-E162B054D313}"/>
          </ac:spMkLst>
        </pc:spChg>
        <pc:spChg chg="mod">
          <ac:chgData name="surya charan tej" userId="7bfc93c4e3559cc9" providerId="LiveId" clId="{507683E5-AD17-4648-9DE4-8A327B890C10}" dt="2026-10-23T05:50:30.138" v="108" actId="20577"/>
          <ac:spMkLst>
            <pc:docMk/>
            <pc:sldMk cId="435696359" sldId="268"/>
            <ac:spMk id="10" creationId="{477A54F7-2D15-7F54-94AF-D6A9077111C9}"/>
          </ac:spMkLst>
        </pc:spChg>
      </pc:sldChg>
      <pc:sldChg chg="addSp modSp mod">
        <pc:chgData name="surya charan tej" userId="7bfc93c4e3559cc9" providerId="LiveId" clId="{507683E5-AD17-4648-9DE4-8A327B890C10}" dt="2026-10-23T05:07:55.893" v="94" actId="207"/>
        <pc:sldMkLst>
          <pc:docMk/>
          <pc:sldMk cId="3648322140" sldId="269"/>
        </pc:sldMkLst>
        <pc:spChg chg="add mod">
          <ac:chgData name="surya charan tej" userId="7bfc93c4e3559cc9" providerId="LiveId" clId="{507683E5-AD17-4648-9DE4-8A327B890C10}" dt="2026-10-23T05:07:55.893" v="94" actId="207"/>
          <ac:spMkLst>
            <pc:docMk/>
            <pc:sldMk cId="3648322140" sldId="269"/>
            <ac:spMk id="3" creationId="{E1D292E6-E076-6BA2-2A9A-60ED04B431FA}"/>
          </ac:spMkLst>
        </pc:spChg>
        <pc:spChg chg="mod">
          <ac:chgData name="surya charan tej" userId="7bfc93c4e3559cc9" providerId="LiveId" clId="{507683E5-AD17-4648-9DE4-8A327B890C10}" dt="2026-10-23T05:07:54.591" v="77" actId="20577"/>
          <ac:spMkLst>
            <pc:docMk/>
            <pc:sldMk cId="3648322140" sldId="269"/>
            <ac:spMk id="5" creationId="{04DA93D2-EAAB-EF51-1531-85907DB140BD}"/>
          </ac:spMkLst>
        </pc:spChg>
      </pc:sldChg>
      <pc:sldChg chg="modSp mod">
        <pc:chgData name="surya charan tej" userId="7bfc93c4e3559cc9" providerId="LiveId" clId="{507683E5-AD17-4648-9DE4-8A327B890C10}" dt="2026-10-23T05:07:54.700" v="78" actId="20577"/>
        <pc:sldMkLst>
          <pc:docMk/>
          <pc:sldMk cId="3923172872" sldId="273"/>
        </pc:sldMkLst>
        <pc:spChg chg="mod">
          <ac:chgData name="surya charan tej" userId="7bfc93c4e3559cc9" providerId="LiveId" clId="{507683E5-AD17-4648-9DE4-8A327B890C10}" dt="2026-10-23T05:07:54.700" v="78" actId="20577"/>
          <ac:spMkLst>
            <pc:docMk/>
            <pc:sldMk cId="3923172872" sldId="273"/>
            <ac:spMk id="5" creationId="{CB280CA3-5E67-EC3A-2542-3E54E98F7DCD}"/>
          </ac:spMkLst>
        </pc:spChg>
      </pc:sldChg>
      <pc:sldChg chg="addSp modSp mod ord modNotes">
        <pc:chgData name="surya charan tej" userId="7bfc93c4e3559cc9" providerId="LiveId" clId="{507683E5-AD17-4648-9DE4-8A327B890C10}" dt="2026-10-23T05:10:50.130" v="102" actId="207"/>
        <pc:sldMkLst>
          <pc:docMk/>
          <pc:sldMk cId="1536113954" sldId="274"/>
        </pc:sldMkLst>
        <pc:spChg chg="add mod">
          <ac:chgData name="surya charan tej" userId="7bfc93c4e3559cc9" providerId="LiveId" clId="{507683E5-AD17-4648-9DE4-8A327B890C10}" dt="2026-10-23T05:10:50.130" v="102" actId="207"/>
          <ac:spMkLst>
            <pc:docMk/>
            <pc:sldMk cId="1536113954" sldId="274"/>
            <ac:spMk id="3" creationId="{3D2279B1-B97F-A915-C374-AC62F7353711}"/>
          </ac:spMkLst>
        </pc:spChg>
        <pc:spChg chg="mod">
          <ac:chgData name="surya charan tej" userId="7bfc93c4e3559cc9" providerId="LiveId" clId="{507683E5-AD17-4648-9DE4-8A327B890C10}" dt="2026-10-23T05:07:54.728" v="79" actId="20577"/>
          <ac:spMkLst>
            <pc:docMk/>
            <pc:sldMk cId="1536113954" sldId="274"/>
            <ac:spMk id="5" creationId="{88DFEA0B-1A97-F735-BEB5-95321A0D2D29}"/>
          </ac:spMkLst>
        </pc:spChg>
        <pc:spChg chg="mod">
          <ac:chgData name="surya charan tej" userId="7bfc93c4e3559cc9" providerId="LiveId" clId="{507683E5-AD17-4648-9DE4-8A327B890C10}" dt="2026-10-23T05:07:55.173" v="84" actId="20577"/>
          <ac:spMkLst>
            <pc:docMk/>
            <pc:sldMk cId="1536113954" sldId="274"/>
            <ac:spMk id="19" creationId="{99682C21-3307-C8CF-B53F-214FB34A33E4}"/>
          </ac:spMkLst>
        </pc:spChg>
        <pc:spChg chg="mod">
          <ac:chgData name="surya charan tej" userId="7bfc93c4e3559cc9" providerId="LiveId" clId="{507683E5-AD17-4648-9DE4-8A327B890C10}" dt="2026-10-23T05:07:55.253" v="85" actId="20577"/>
          <ac:spMkLst>
            <pc:docMk/>
            <pc:sldMk cId="1536113954" sldId="274"/>
            <ac:spMk id="20" creationId="{F8D66F34-6D18-C510-A502-8B4357ECA13B}"/>
          </ac:spMkLst>
        </pc:spChg>
        <pc:spChg chg="mod">
          <ac:chgData name="surya charan tej" userId="7bfc93c4e3559cc9" providerId="LiveId" clId="{507683E5-AD17-4648-9DE4-8A327B890C10}" dt="2026-10-23T04:27:52.479" v="45" actId="20577"/>
          <ac:spMkLst>
            <pc:docMk/>
            <pc:sldMk cId="1536113954" sldId="274"/>
            <ac:spMk id="21" creationId="{B41FB0DD-4D27-E6A7-9CB1-F5A0A1D4F081}"/>
          </ac:spMkLst>
        </pc:spChg>
      </pc:sldChg>
      <pc:sldChg chg="modSp mod ord">
        <pc:chgData name="surya charan tej" userId="7bfc93c4e3559cc9" providerId="LiveId" clId="{507683E5-AD17-4648-9DE4-8A327B890C10}" dt="2026-10-23T05:07:54.764" v="80" actId="20577"/>
        <pc:sldMkLst>
          <pc:docMk/>
          <pc:sldMk cId="28401130" sldId="275"/>
        </pc:sldMkLst>
        <pc:spChg chg="mod">
          <ac:chgData name="surya charan tej" userId="7bfc93c4e3559cc9" providerId="LiveId" clId="{507683E5-AD17-4648-9DE4-8A327B890C10}" dt="2026-10-23T05:07:54.764" v="80" actId="20577"/>
          <ac:spMkLst>
            <pc:docMk/>
            <pc:sldMk cId="28401130" sldId="275"/>
            <ac:spMk id="5" creationId="{81F0B902-3AF9-E29E-932F-B8625BE51895}"/>
          </ac:spMkLst>
        </pc:spChg>
      </pc:sldChg>
      <pc:sldChg chg="modSp mod ord">
        <pc:chgData name="surya charan tej" userId="7bfc93c4e3559cc9" providerId="LiveId" clId="{507683E5-AD17-4648-9DE4-8A327B890C10}" dt="2026-10-23T05:07:54.804" v="81" actId="20577"/>
        <pc:sldMkLst>
          <pc:docMk/>
          <pc:sldMk cId="1481927676" sldId="277"/>
        </pc:sldMkLst>
        <pc:spChg chg="mod">
          <ac:chgData name="surya charan tej" userId="7bfc93c4e3559cc9" providerId="LiveId" clId="{507683E5-AD17-4648-9DE4-8A327B890C10}" dt="2026-10-23T05:07:54.804" v="81" actId="20577"/>
          <ac:spMkLst>
            <pc:docMk/>
            <pc:sldMk cId="1481927676" sldId="277"/>
            <ac:spMk id="5" creationId="{43AFBF88-F58A-84E1-8C59-7024B122DFA2}"/>
          </ac:spMkLst>
        </pc:spChg>
      </pc:sldChg>
      <pc:sldChg chg="modSp mod ord">
        <pc:chgData name="surya charan tej" userId="7bfc93c4e3559cc9" providerId="LiveId" clId="{507683E5-AD17-4648-9DE4-8A327B890C10}" dt="2026-10-23T05:07:54.828" v="82" actId="20577"/>
        <pc:sldMkLst>
          <pc:docMk/>
          <pc:sldMk cId="3176471143" sldId="278"/>
        </pc:sldMkLst>
        <pc:spChg chg="mod">
          <ac:chgData name="surya charan tej" userId="7bfc93c4e3559cc9" providerId="LiveId" clId="{507683E5-AD17-4648-9DE4-8A327B890C10}" dt="2026-10-23T05:07:54.828" v="82" actId="20577"/>
          <ac:spMkLst>
            <pc:docMk/>
            <pc:sldMk cId="3176471143" sldId="278"/>
            <ac:spMk id="5" creationId="{3BA8A42D-A8FE-63FC-88B1-4A23FC384DF4}"/>
          </ac:spMkLst>
        </pc:spChg>
      </pc:sldChg>
      <pc:sldChg chg="modSp mod ord">
        <pc:chgData name="surya charan tej" userId="7bfc93c4e3559cc9" providerId="LiveId" clId="{507683E5-AD17-4648-9DE4-8A327B890C10}" dt="2026-10-23T05:07:54.884" v="83" actId="20577"/>
        <pc:sldMkLst>
          <pc:docMk/>
          <pc:sldMk cId="2155939990" sldId="279"/>
        </pc:sldMkLst>
        <pc:spChg chg="mod">
          <ac:chgData name="surya charan tej" userId="7bfc93c4e3559cc9" providerId="LiveId" clId="{507683E5-AD17-4648-9DE4-8A327B890C10}" dt="2026-10-23T05:07:54.884" v="83" actId="20577"/>
          <ac:spMkLst>
            <pc:docMk/>
            <pc:sldMk cId="2155939990" sldId="279"/>
            <ac:spMk id="5" creationId="{69DE3A4F-4D09-38B7-795B-4256AB94284E}"/>
          </ac:spMkLst>
        </pc:spChg>
      </pc:sldChg>
      <pc:sldChg chg="del">
        <pc:chgData name="surya charan tej" userId="7bfc93c4e3559cc9" providerId="LiveId" clId="{507683E5-AD17-4648-9DE4-8A327B890C10}" dt="2026-10-23T04:25:40.182" v="0" actId="47"/>
        <pc:sldMkLst>
          <pc:docMk/>
          <pc:sldMk cId="1524692099" sldId="283"/>
        </pc:sldMkLst>
      </pc:sldChg>
      <pc:sldChg chg="delSp del">
        <pc:chgData name="surya charan tej" userId="7bfc93c4e3559cc9" providerId="LiveId" clId="{507683E5-AD17-4648-9DE4-8A327B890C10}" dt="2026-10-23T04:28:05.122" v="47" actId="2696"/>
        <pc:sldMkLst>
          <pc:docMk/>
          <pc:sldMk cId="1141849120" sldId="284"/>
        </pc:sldMkLst>
        <pc:spChg chg="del">
          <ac:chgData name="surya charan tej" userId="7bfc93c4e3559cc9" providerId="LiveId" clId="{507683E5-AD17-4648-9DE4-8A327B890C10}" dt="2026-10-23T04:28:00.499" v="46" actId="478"/>
          <ac:spMkLst>
            <pc:docMk/>
            <pc:sldMk cId="1141849120" sldId="284"/>
            <ac:spMk id="2" creationId="{E1186167-0802-7972-693C-0D0FA3CCEC4B}"/>
          </ac:spMkLst>
        </pc:spChg>
        <pc:spChg chg="del">
          <ac:chgData name="surya charan tej" userId="7bfc93c4e3559cc9" providerId="LiveId" clId="{507683E5-AD17-4648-9DE4-8A327B890C10}" dt="2026-10-23T04:28:00.499" v="46" actId="478"/>
          <ac:spMkLst>
            <pc:docMk/>
            <pc:sldMk cId="1141849120" sldId="284"/>
            <ac:spMk id="10" creationId="{2978F513-3259-B943-93FF-BD872E4E5CDF}"/>
          </ac:spMkLst>
        </pc:spChg>
        <pc:spChg chg="del">
          <ac:chgData name="surya charan tej" userId="7bfc93c4e3559cc9" providerId="LiveId" clId="{507683E5-AD17-4648-9DE4-8A327B890C10}" dt="2026-10-23T04:28:00.499" v="46" actId="478"/>
          <ac:spMkLst>
            <pc:docMk/>
            <pc:sldMk cId="1141849120" sldId="284"/>
            <ac:spMk id="11" creationId="{29A5F72E-471D-6B78-7BE0-3F6BA073E734}"/>
          </ac:spMkLst>
        </pc:spChg>
        <pc:spChg chg="del">
          <ac:chgData name="surya charan tej" userId="7bfc93c4e3559cc9" providerId="LiveId" clId="{507683E5-AD17-4648-9DE4-8A327B890C10}" dt="2026-10-23T04:28:00.499" v="46" actId="478"/>
          <ac:spMkLst>
            <pc:docMk/>
            <pc:sldMk cId="1141849120" sldId="284"/>
            <ac:spMk id="13" creationId="{CAC99809-D33D-851A-71EA-A3A6D9CE5D9E}"/>
          </ac:spMkLst>
        </pc:spChg>
        <pc:spChg chg="del">
          <ac:chgData name="surya charan tej" userId="7bfc93c4e3559cc9" providerId="LiveId" clId="{507683E5-AD17-4648-9DE4-8A327B890C10}" dt="2026-10-23T04:28:00.499" v="46" actId="478"/>
          <ac:spMkLst>
            <pc:docMk/>
            <pc:sldMk cId="1141849120" sldId="284"/>
            <ac:spMk id="18" creationId="{692C44B9-973C-2D37-5F9E-017C3FDE329F}"/>
          </ac:spMkLst>
        </pc:spChg>
        <pc:spChg chg="del">
          <ac:chgData name="surya charan tej" userId="7bfc93c4e3559cc9" providerId="LiveId" clId="{507683E5-AD17-4648-9DE4-8A327B890C10}" dt="2026-10-23T04:28:00.499" v="46" actId="478"/>
          <ac:spMkLst>
            <pc:docMk/>
            <pc:sldMk cId="1141849120" sldId="284"/>
            <ac:spMk id="19" creationId="{269B1ED0-28CE-B59D-48F0-A7700B7FD8D3}"/>
          </ac:spMkLst>
        </pc:spChg>
        <pc:spChg chg="del">
          <ac:chgData name="surya charan tej" userId="7bfc93c4e3559cc9" providerId="LiveId" clId="{507683E5-AD17-4648-9DE4-8A327B890C10}" dt="2026-10-23T04:28:00.499" v="46" actId="478"/>
          <ac:spMkLst>
            <pc:docMk/>
            <pc:sldMk cId="1141849120" sldId="284"/>
            <ac:spMk id="22" creationId="{B2D3C369-6C11-60A7-8F76-2E2C42291058}"/>
          </ac:spMkLst>
        </pc:spChg>
        <pc:spChg chg="del">
          <ac:chgData name="surya charan tej" userId="7bfc93c4e3559cc9" providerId="LiveId" clId="{507683E5-AD17-4648-9DE4-8A327B890C10}" dt="2026-10-23T04:28:00.499" v="46" actId="478"/>
          <ac:spMkLst>
            <pc:docMk/>
            <pc:sldMk cId="1141849120" sldId="284"/>
            <ac:spMk id="24" creationId="{57E79F4C-2754-78A4-968D-9456A24AB0F4}"/>
          </ac:spMkLst>
        </pc:spChg>
        <pc:spChg chg="del">
          <ac:chgData name="surya charan tej" userId="7bfc93c4e3559cc9" providerId="LiveId" clId="{507683E5-AD17-4648-9DE4-8A327B890C10}" dt="2026-10-23T04:28:00.499" v="46" actId="478"/>
          <ac:spMkLst>
            <pc:docMk/>
            <pc:sldMk cId="1141849120" sldId="284"/>
            <ac:spMk id="27" creationId="{B259B981-6856-4A16-75E1-FFB71B144485}"/>
          </ac:spMkLst>
        </pc:spChg>
        <pc:spChg chg="del">
          <ac:chgData name="surya charan tej" userId="7bfc93c4e3559cc9" providerId="LiveId" clId="{507683E5-AD17-4648-9DE4-8A327B890C10}" dt="2026-10-23T04:28:00.499" v="46" actId="478"/>
          <ac:spMkLst>
            <pc:docMk/>
            <pc:sldMk cId="1141849120" sldId="284"/>
            <ac:spMk id="28" creationId="{1EDA73EC-F0B8-B2F3-05C7-AF8C36AACC31}"/>
          </ac:spMkLst>
        </pc:spChg>
      </pc:sldChg>
      <pc:sldChg chg="del">
        <pc:chgData name="surya charan tej" userId="7bfc93c4e3559cc9" providerId="LiveId" clId="{507683E5-AD17-4648-9DE4-8A327B890C10}" dt="2026-10-23T04:25:56.909" v="1" actId="47"/>
        <pc:sldMkLst>
          <pc:docMk/>
          <pc:sldMk cId="3002574026" sldId="285"/>
        </pc:sldMkLst>
      </pc:sldChg>
      <pc:sldChg chg="modSp mod">
        <pc:chgData name="surya charan tej" userId="7bfc93c4e3559cc9" providerId="LiveId" clId="{507683E5-AD17-4648-9DE4-8A327B890C10}" dt="2026-10-23T04:28:07.917" v="48" actId="20577"/>
        <pc:sldMkLst>
          <pc:docMk/>
          <pc:sldMk cId="3184110614" sldId="286"/>
        </pc:sldMkLst>
        <pc:spChg chg="mod">
          <ac:chgData name="surya charan tej" userId="7bfc93c4e3559cc9" providerId="LiveId" clId="{507683E5-AD17-4648-9DE4-8A327B890C10}" dt="2026-10-23T04:28:07.917" v="48" actId="20577"/>
          <ac:spMkLst>
            <pc:docMk/>
            <pc:sldMk cId="3184110614" sldId="286"/>
            <ac:spMk id="8" creationId="{401B296A-D487-52B7-C470-2B92B48206C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r>
              <a:rPr lang="en-US"/>
              <a:t>Independent fresh capture, 1,920 frames per class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CNN</c:v>
                </c:pt>
              </c:strCache>
            </c:strRef>
          </c:tx>
          <c:spPr>
            <a:solidFill>
              <a:srgbClr val="AABADC"/>
            </a:solidFill>
            <a:ln>
              <a:noFill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AM-DSB</c:v>
                </c:pt>
                <c:pt idx="1">
                  <c:v>BPSK</c:v>
                </c:pt>
                <c:pt idx="2">
                  <c:v>QAM16</c:v>
                </c:pt>
                <c:pt idx="3">
                  <c:v>QPSK</c:v>
                </c:pt>
                <c:pt idx="4">
                  <c:v>WBFM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4.4000000000000004</c:v>
                </c:pt>
                <c:pt idx="1">
                  <c:v>99.4</c:v>
                </c:pt>
                <c:pt idx="2">
                  <c:v>98.1</c:v>
                </c:pt>
                <c:pt idx="3">
                  <c:v>94.7</c:v>
                </c:pt>
                <c:pt idx="4">
                  <c:v>74.099999999999994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30-49C0-B6A3-1DC072BBF3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Fine-tuned CNN</c:v>
                </c:pt>
              </c:strCache>
            </c:strRef>
          </c:tx>
          <c:spPr>
            <a:solidFill>
              <a:srgbClr val="161C4C"/>
            </a:solidFill>
            <a:ln>
              <a:noFill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AM-DSB</c:v>
                </c:pt>
                <c:pt idx="1">
                  <c:v>BPSK</c:v>
                </c:pt>
                <c:pt idx="2">
                  <c:v>QAM16</c:v>
                </c:pt>
                <c:pt idx="3">
                  <c:v>QPSK</c:v>
                </c:pt>
                <c:pt idx="4">
                  <c:v>WBFM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91</c:v>
                </c:pt>
                <c:pt idx="1">
                  <c:v>98.9</c:v>
                </c:pt>
                <c:pt idx="2">
                  <c:v>98.6</c:v>
                </c:pt>
                <c:pt idx="3">
                  <c:v>99.8</c:v>
                </c:pt>
                <c:pt idx="4">
                  <c:v>95.3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30-49C0-B6A3-1DC072BBF3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1186239823"/>
        <c:axId val="1186241263"/>
      </c:barChart>
      <c:catAx>
        <c:axId val="118623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rgbClr val="1E223C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n-US"/>
          </a:p>
        </c:txPr>
        <c:crossAx val="1186241263"/>
        <c:crosses val="autoZero"/>
        <c:auto val="1"/>
        <c:lblAlgn val="ctr"/>
        <c:lblOffset val="100"/>
        <c:noMultiLvlLbl val="0"/>
      </c:catAx>
      <c:valAx>
        <c:axId val="1186241263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rgbClr val="E1E4EC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r>
                  <a:rPr lang="en-US"/>
                  <a:t>Accuracy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606680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n-US"/>
          </a:p>
        </c:txPr>
        <c:crossAx val="1186239823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DDC5B-9DA0-40CA-A809-0CBD710B099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DD102-B31F-4192-AE64-BDD96878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91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the team and the project title. Say: In the mid review we showed the AI working on a dataset. Today we show the same AI working on a real radio, the ADALM-Pluto, over the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29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modulation simply: different ways of putting data onto a radio wave. A receiver must know the type before decoding. AMC does that automatically. Our project does it with a CNN, first on a dataset and now on a real radio.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04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Four papers from our survey. The first got 98.9 percent on RadioML 2018 but only on the dataset, not on hardware. The second showed real-time AMC on an SDR but with a more complex receiver. The third used ADALM-Pluto with ResNet-18 and signal-processing fusion, which is more complex than our CNN. The fourth fused I/Q with amplitude and phase using a GRU, which helps at low SNR but adds complexity. Our project fills the gap with a simple 1D CNN on raw I/Q, validated on the dataset and then deployed and fine-tuned on a real ADALM-Pluto.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98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the six objectives. All six are complete; the last one, fine-tuning on real data, was added after we measured the gap between simulation and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7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halves of the twin. Left: the virtual side we had at mid review. Right: the physical side we built now, using the same CNN. Comparing them shows the gap, which we then close by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47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to the diagram. One Pluto both transmits and receives. The laptop sends the waveform over USB, the TX antenna radiates it, the RX antenna picks it up 2 cm away, and the samples come back over USB to MATLAB and the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75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are real constellations captured over the air by our Pluto. Each modulation has a clear shape: BPSK a line, QPSK four clusters, WBFM a ring. The CNN learns these differences directly from the raw I/Q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9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same small CNN from the mid review: two 1D convolution layers that slide pattern detectors along the I/Q signal, then pooling and a 5-way classifier. Only about eleven thousand parameters, so it runs in real time on a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2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three sets. Training: the network learns from it. Validation: checked during training to keep the best version and stop early, so it does not memorise. Testing: used only once at the end for the reported score. We did this for both stages, and then tested on a completely new recording. Training, validation and test accuracy are within one or two points of each other, which shows there is no over-fitting.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14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our live demo. The Pluto transmits one modulation, the CNN classifies every frame in real time, and the screen shows the result. Press keys 1 to 5 to switch modulation. In the live test with antennas, all five were classified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93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three key numbers. 85.25 percent on the RadioML test set, in simulation. The same CNN on real signals drops to 74.1 percent - the simulation-to-reality gap. After fine-tuning on real data it reaches 96.7 percent on a completely new recording. Do not claim it beats simulation: the dataset covers many simulated channel conditions, while our test is one short-range lab link that the network was fine-tuned on, so the numbers are not directly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84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Digital modulations were already strong for the original CNN. The big gains are the analog ones: AM-DSB from 4 to 91 percent and WBFM from 74 to 95 percent, because their real-hardware appearance differs most from the simulated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53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how to read it: each row is what was really sent, 1,920 frames per row; each column is what the AI guessed; the blue diagonal is correct and red boxes are mistakes. Before fine-tuning, the digital modulations are already fine, but AM-DSB is almost always wrong: only 84 of 1,920 correct, mostly called QAM16 or WBFM. WBFM is often called AM-DSB. Overall 74.1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18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After fine-tuning on real Pluto data the diagonal is strong for every class: 9,287 of 9,600 frames correct, 96.7 percent. AM-DSB went from 84 to 1,747 correct. The remaining mistakes are mostly AM-DSB versus WBFM, because both are analog and carry the same audio, and a few QAM16 versus QPSK, because QPSK points look like the corners of QAM16.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07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frame is only 0.128 milliseconds of signal. If the system takes a majority vote over consecutive frames, the remaining AM-DSB and WBFM mistakes disappear: 99.5 percent with 8 frames and 100 percent with 64 frames, which is only 8 milliseconds. The live dashboard already averages 64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749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 panel and invite questions. Be ready to run the live dashboard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DD102-B31F-4192-AE64-BDD9687871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31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DD04-37C6-4660-B53C-D7BDF6D9A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8804E-057D-9E22-EE87-26418EC5F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10BE3-D369-3D9F-3B46-90DE33C5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939B5-3FA9-83CC-B20C-B8E44787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F808B-408C-E8F2-A7EC-E1DC5A38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37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2E34-3481-78A2-0AF3-DD45C7F30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49BC0-3DFC-94D6-B375-07006A598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5A5B1-3A6D-AF66-25D9-4447ED83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61D23-CC6A-CA06-577B-701FE977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CCEF8-FA69-6C9F-C8AB-CB46B409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2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BA2A-AA1F-E73D-CD0D-17BCA34E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6ECDB-BA76-8CF7-2997-41445BE3B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B250F-FC05-0C4D-E8F4-5515412D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DED1A-E884-469B-B587-B6761051B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1FF4-58B2-A2B5-099D-712277D0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2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9B0A-ECE9-B2FF-9B76-1CF4931EE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61B4-C073-99CF-BD94-3172D3A4D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98A52-418B-C9EE-DC1D-29429C4DD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B2239-4A96-CE7C-9951-30B73919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90F13-6B5A-3BA0-A11B-25C190EA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7B7D6-03FF-18C7-8F4B-8A693F804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2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1826-9082-5285-7347-20EBBD165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F3A11-FA9E-B02F-AB3F-8E50C0104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5D4C8-B0C1-8B72-122E-0C0D9A146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4977C-63D7-51CE-67CD-93B48DE83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38DACF-9224-2496-8DCC-E881F37B7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4160D-6E71-DE06-A1DE-7E407C581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4B68E-214E-56A2-26C5-42DA8D91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DF3FED-A773-0D17-DCC0-54834BE6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7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83685-5BA5-DC1F-B3A4-E1F8C12A8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CF109-3810-3BED-5848-4249A371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700DD-B770-A7D6-E514-F92C5CD6B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46F1B-E594-967F-D319-418EE926C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4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D5A4B-8E13-7B33-66C7-62FF8A3F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D105F-C928-B386-B9B2-192ADC01B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8B7BD-C940-683D-8E13-271C8CA9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15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6476-69EF-6AF9-D0A0-9DAA837ED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4747-D89E-65F9-9A51-65D318075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4E221-8A56-0DB7-F478-05990B46C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6E5EB-2E19-DE44-763A-5AACC93EC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540AD-B4C4-481A-363A-0B3BC26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ED440-429F-BD3F-1F9F-252837655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2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A00D-2F5A-0DA4-BAE3-0FBD6F870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2FF5F-EA7F-E8ED-7437-8C1BA2306BA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AFD49-5E1D-6052-000B-51C434E34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BC11D-5D39-9144-4976-A04F0A21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C08F7-EE08-F7EB-9EA4-571222ED2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F6FCF-1F4C-62DF-D03C-327B442C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13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102E-AC29-CBED-840E-68105A4A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1C308-5C61-E142-D144-C2244509E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547F5-343D-3B83-285C-C7162034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E99FB-C295-11DA-2FFF-7E08B6F09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02B16-47A1-145B-5C4A-1A718708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8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F689B-755C-DBE7-5FB2-7DC7F02B6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28EEF-0BF6-AEDB-4513-137F69486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ADF35-C48D-5862-AD1A-2F274158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42833-1A92-7CB7-39C4-2A7E630FA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0A14C-2628-01B3-810D-ACF77D44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6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DC1D5B-4F04-AA02-BE6E-3D101E2CD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E9391-E66B-8940-155C-BC304457A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0D6C8-0B65-ACDC-8B20-061211717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3BBB03-9B4A-4112-84F0-08CA4214AB1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26295-874F-B441-A826-6D6830B21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E0CC4-8BA2-BCC8-C25B-2920AF04A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C9B1B-8E29-48EE-BD73-BA694FA2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0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9A5DB8D-E24D-5088-7386-ED7EB559B5F2}"/>
              </a:ext>
            </a:extLst>
          </p:cNvPr>
          <p:cNvSpPr/>
          <p:nvPr/>
        </p:nvSpPr>
        <p:spPr>
          <a:xfrm>
            <a:off x="10858500" y="-571500"/>
            <a:ext cx="1905000" cy="1905000"/>
          </a:xfrm>
          <a:prstGeom prst="ellipse">
            <a:avLst/>
          </a:prstGeom>
          <a:noFill/>
          <a:ln w="12700" cap="flat" cmpd="sng" algn="ctr">
            <a:solidFill>
              <a:srgbClr val="3A5B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3C45F05-77C9-913C-B747-57E3204975BD}"/>
              </a:ext>
            </a:extLst>
          </p:cNvPr>
          <p:cNvSpPr/>
          <p:nvPr/>
        </p:nvSpPr>
        <p:spPr>
          <a:xfrm>
            <a:off x="10350500" y="-1079500"/>
            <a:ext cx="2921000" cy="2921000"/>
          </a:xfrm>
          <a:prstGeom prst="ellipse">
            <a:avLst/>
          </a:prstGeom>
          <a:noFill/>
          <a:ln w="12700" cap="flat" cmpd="sng" algn="ctr">
            <a:solidFill>
              <a:srgbClr val="3A5B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5F18C9-00E9-12D2-80E4-D14626E370EA}"/>
              </a:ext>
            </a:extLst>
          </p:cNvPr>
          <p:cNvSpPr/>
          <p:nvPr/>
        </p:nvSpPr>
        <p:spPr>
          <a:xfrm>
            <a:off x="9842500" y="-1587500"/>
            <a:ext cx="3937000" cy="3937000"/>
          </a:xfrm>
          <a:prstGeom prst="ellipse">
            <a:avLst/>
          </a:prstGeom>
          <a:noFill/>
          <a:ln w="12700" cap="flat" cmpd="sng" algn="ctr">
            <a:solidFill>
              <a:srgbClr val="3A5B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ADB582-7117-39D1-9AA2-E57D83BA7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5AF4F0-1D2D-7D71-C990-D18D04B49ED8}"/>
              </a:ext>
            </a:extLst>
          </p:cNvPr>
          <p:cNvSpPr txBox="1"/>
          <p:nvPr/>
        </p:nvSpPr>
        <p:spPr>
          <a:xfrm>
            <a:off x="762000" y="1524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CADCFC"/>
                </a:solidFill>
                <a:latin typeface="Calibri" panose="020F0502020204030204" pitchFamily="34" charset="0"/>
              </a:rPr>
              <a:t>FINAL PROJECT 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D5A50-8D25-F43E-6B43-7F5BB5F84A44}"/>
              </a:ext>
            </a:extLst>
          </p:cNvPr>
          <p:cNvSpPr txBox="1"/>
          <p:nvPr/>
        </p:nvSpPr>
        <p:spPr>
          <a:xfrm>
            <a:off x="762000" y="1905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Times New Roman" panose="02020603050405020304" pitchFamily="18" charset="0"/>
              </a:rPr>
              <a:t>AI-Powered RF Digital Twin Using</a:t>
            </a:r>
          </a:p>
          <a:p>
            <a:r>
              <a:rPr lang="en-US" sz="4400" b="1">
                <a:solidFill>
                  <a:srgbClr val="FFFFFF"/>
                </a:solidFill>
                <a:latin typeface="Times New Roman" panose="02020603050405020304" pitchFamily="18" charset="0"/>
              </a:rPr>
              <a:t>ADALM-PLUTO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FE0AF-E519-A7DD-D8C1-072D920B179E}"/>
              </a:ext>
            </a:extLst>
          </p:cNvPr>
          <p:cNvSpPr txBox="1"/>
          <p:nvPr/>
        </p:nvSpPr>
        <p:spPr>
          <a:xfrm>
            <a:off x="762000" y="37084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i="1">
                <a:solidFill>
                  <a:srgbClr val="CADCFC"/>
                </a:solidFill>
                <a:latin typeface="Calibri" panose="020F0502020204030204" pitchFamily="34" charset="0"/>
              </a:rPr>
              <a:t>Automatic modulation classification on real over-the-air signals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C7FA2-76D3-8DAA-168E-2C5D23FD960F}"/>
              </a:ext>
            </a:extLst>
          </p:cNvPr>
          <p:cNvSpPr txBox="1"/>
          <p:nvPr/>
        </p:nvSpPr>
        <p:spPr>
          <a:xfrm>
            <a:off x="762000" y="43815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23AID203  –  Software-Defined Communication Systems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D6DF09-C36F-983E-120B-CA501027DD17}"/>
              </a:ext>
            </a:extLst>
          </p:cNvPr>
          <p:cNvSpPr txBox="1"/>
          <p:nvPr/>
        </p:nvSpPr>
        <p:spPr>
          <a:xfrm>
            <a:off x="762000" y="47625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Faculty: Kavitha 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97CFC-9645-4432-A07B-3DC011CEE054}"/>
              </a:ext>
            </a:extLst>
          </p:cNvPr>
          <p:cNvSpPr txBox="1"/>
          <p:nvPr/>
        </p:nvSpPr>
        <p:spPr>
          <a:xfrm>
            <a:off x="8128000" y="4381500"/>
            <a:ext cx="368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GROUP A-16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74B37-4EDA-5408-0630-822911C642EC}"/>
              </a:ext>
            </a:extLst>
          </p:cNvPr>
          <p:cNvSpPr txBox="1"/>
          <p:nvPr/>
        </p:nvSpPr>
        <p:spPr>
          <a:xfrm>
            <a:off x="8128000" y="4800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Calibri" panose="020F0502020204030204" pitchFamily="34" charset="0"/>
              </a:rPr>
              <a:t>B. Suryacharantej  –  CB.AI.U4AID25009</a:t>
            </a:r>
          </a:p>
          <a:p>
            <a:r>
              <a:rPr lang="en-US" sz="1400">
                <a:solidFill>
                  <a:srgbClr val="FFFFFF"/>
                </a:solidFill>
                <a:latin typeface="Calibri" panose="020F0502020204030204" pitchFamily="34" charset="0"/>
              </a:rPr>
              <a:t>B. Sai Srikar  –  CB.AI.U4AID25006</a:t>
            </a:r>
          </a:p>
          <a:p>
            <a:r>
              <a:rPr lang="en-US" sz="1400">
                <a:solidFill>
                  <a:srgbClr val="FFFFFF"/>
                </a:solidFill>
                <a:latin typeface="Calibri" panose="020F0502020204030204" pitchFamily="34" charset="0"/>
              </a:rPr>
              <a:t>P. Sathwik  –  CB.AI.U4AID25041</a:t>
            </a:r>
          </a:p>
          <a:p>
            <a:r>
              <a:rPr lang="en-US" sz="1400">
                <a:solidFill>
                  <a:srgbClr val="FFFFFF"/>
                </a:solidFill>
                <a:latin typeface="Calibri" panose="020F0502020204030204" pitchFamily="34" charset="0"/>
              </a:rPr>
              <a:t>M. Neeraj  –  CB.AI.U4AID25031</a:t>
            </a:r>
          </a:p>
        </p:txBody>
      </p:sp>
    </p:spTree>
    <p:extLst>
      <p:ext uri="{BB962C8B-B14F-4D97-AF65-F5344CB8AC3E}">
        <p14:creationId xmlns:p14="http://schemas.microsoft.com/office/powerpoint/2010/main" val="64272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6A40C6-56EA-CD80-421B-4EB23D430CD0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9D538-8B11-ECA0-B61E-F75CF2C4B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5BEAC7-0C78-AE00-9A1F-EE703BF15D56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4B48C-E96D-0D67-ADD0-7C0CB5F5CC60}"/>
              </a:ext>
            </a:extLst>
          </p:cNvPr>
          <p:cNvSpPr txBox="1"/>
          <p:nvPr/>
        </p:nvSpPr>
        <p:spPr>
          <a:xfrm>
            <a:off x="508000" y="127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12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700" dirty="0">
                <a:solidFill>
                  <a:srgbClr val="1E223C"/>
                </a:solidFill>
                <a:latin typeface="Calibri" panose="020F0502020204030204" pitchFamily="34" charset="0"/>
              </a:rPr>
              <a:t>Wireless systems send information using different modulation schemes (AM, FM, BPSK, QPSK, QAM)</a:t>
            </a:r>
          </a:p>
          <a:p>
            <a:pPr marL="203200" indent="-203200">
              <a:spcAft>
                <a:spcPts val="12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700" dirty="0">
                <a:solidFill>
                  <a:srgbClr val="1E223C"/>
                </a:solidFill>
                <a:latin typeface="Calibri" panose="020F0502020204030204" pitchFamily="34" charset="0"/>
              </a:rPr>
              <a:t>A receiver must know the modulation type before it can demodulate the signal</a:t>
            </a:r>
          </a:p>
          <a:p>
            <a:pPr marL="203200" indent="-203200">
              <a:spcAft>
                <a:spcPts val="12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700" dirty="0">
                <a:solidFill>
                  <a:srgbClr val="1E223C"/>
                </a:solidFill>
                <a:latin typeface="Calibri" panose="020F0502020204030204" pitchFamily="34" charset="0"/>
              </a:rPr>
              <a:t>Automatic Modulation Classification (AMC) identifies the type directly from the received I/Q samples</a:t>
            </a:r>
          </a:p>
          <a:p>
            <a:pPr marL="203200" indent="-203200">
              <a:spcAft>
                <a:spcPts val="12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700" dirty="0">
                <a:solidFill>
                  <a:srgbClr val="1E223C"/>
                </a:solidFill>
                <a:latin typeface="Calibri" panose="020F0502020204030204" pitchFamily="34" charset="0"/>
              </a:rPr>
              <a:t>Our project: an AI-based RF Digital Twin – validated on the </a:t>
            </a:r>
            <a:r>
              <a:rPr lang="en-US" sz="1700" dirty="0" err="1">
                <a:solidFill>
                  <a:srgbClr val="1E223C"/>
                </a:solidFill>
                <a:latin typeface="Calibri" panose="020F0502020204030204" pitchFamily="34" charset="0"/>
              </a:rPr>
              <a:t>RadioML</a:t>
            </a:r>
            <a:r>
              <a:rPr lang="en-US" sz="1700" dirty="0">
                <a:solidFill>
                  <a:srgbClr val="1E223C"/>
                </a:solidFill>
                <a:latin typeface="Calibri" panose="020F0502020204030204" pitchFamily="34" charset="0"/>
              </a:rPr>
              <a:t> dataset, then deployed on a real ADALM-Pluto SDR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A34026-822F-32F0-63E8-9FBCB75A24B1}"/>
              </a:ext>
            </a:extLst>
          </p:cNvPr>
          <p:cNvSpPr/>
          <p:nvPr/>
        </p:nvSpPr>
        <p:spPr>
          <a:xfrm>
            <a:off x="7874000" y="1320800"/>
            <a:ext cx="3810000" cy="609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600" b="1">
                <a:solidFill>
                  <a:srgbClr val="161C4C"/>
                </a:solidFill>
                <a:latin typeface="Calibri" panose="020F0502020204030204" pitchFamily="34" charset="0"/>
              </a:rPr>
              <a:t>RF signal (over the air)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CE92D5-94A4-654E-0309-3B81A6C111EE}"/>
              </a:ext>
            </a:extLst>
          </p:cNvPr>
          <p:cNvCxnSpPr/>
          <p:nvPr/>
        </p:nvCxnSpPr>
        <p:spPr>
          <a:xfrm>
            <a:off x="9779000" y="1955800"/>
            <a:ext cx="0" cy="254000"/>
          </a:xfrm>
          <a:prstGeom prst="line">
            <a:avLst/>
          </a:prstGeom>
          <a:ln w="25400">
            <a:solidFill>
              <a:srgbClr val="3A5B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BF2220-5686-88D9-8A7F-5FA0D06E61DF}"/>
              </a:ext>
            </a:extLst>
          </p:cNvPr>
          <p:cNvSpPr/>
          <p:nvPr/>
        </p:nvSpPr>
        <p:spPr>
          <a:xfrm>
            <a:off x="7874000" y="2235200"/>
            <a:ext cx="3810000" cy="609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600" b="1">
                <a:solidFill>
                  <a:srgbClr val="161C4C"/>
                </a:solidFill>
                <a:latin typeface="Calibri" panose="020F0502020204030204" pitchFamily="34" charset="0"/>
              </a:rPr>
              <a:t>I/Q samples (2 × 128)</a:t>
            </a:r>
            <a:endParaRPr lang="en-US" sz="1600" b="1">
              <a:solidFill>
                <a:srgbClr val="161C4C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4D32CF-14C2-1D8F-005E-EB802796396D}"/>
              </a:ext>
            </a:extLst>
          </p:cNvPr>
          <p:cNvCxnSpPr/>
          <p:nvPr/>
        </p:nvCxnSpPr>
        <p:spPr>
          <a:xfrm>
            <a:off x="9779000" y="2870200"/>
            <a:ext cx="0" cy="254000"/>
          </a:xfrm>
          <a:prstGeom prst="line">
            <a:avLst/>
          </a:prstGeom>
          <a:ln w="25400">
            <a:solidFill>
              <a:srgbClr val="3A5B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270E0F-DA2A-54B4-4FD7-89E480621F0B}"/>
              </a:ext>
            </a:extLst>
          </p:cNvPr>
          <p:cNvSpPr/>
          <p:nvPr/>
        </p:nvSpPr>
        <p:spPr>
          <a:xfrm>
            <a:off x="7874000" y="3149600"/>
            <a:ext cx="3810000" cy="609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600" b="1">
                <a:solidFill>
                  <a:srgbClr val="161C4C"/>
                </a:solidFill>
                <a:latin typeface="Calibri" panose="020F0502020204030204" pitchFamily="34" charset="0"/>
              </a:rPr>
              <a:t>1D CNN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39F32F-8B6D-F953-B5E8-E5760AF55417}"/>
              </a:ext>
            </a:extLst>
          </p:cNvPr>
          <p:cNvCxnSpPr/>
          <p:nvPr/>
        </p:nvCxnSpPr>
        <p:spPr>
          <a:xfrm>
            <a:off x="9779000" y="3784600"/>
            <a:ext cx="0" cy="254000"/>
          </a:xfrm>
          <a:prstGeom prst="line">
            <a:avLst/>
          </a:prstGeom>
          <a:ln w="25400">
            <a:solidFill>
              <a:srgbClr val="3A5B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CDB68C-A836-A3A5-B7E1-7F502E684805}"/>
              </a:ext>
            </a:extLst>
          </p:cNvPr>
          <p:cNvSpPr/>
          <p:nvPr/>
        </p:nvSpPr>
        <p:spPr>
          <a:xfrm>
            <a:off x="7874000" y="4064000"/>
            <a:ext cx="3810000" cy="609600"/>
          </a:xfrm>
          <a:prstGeom prst="roundRect">
            <a:avLst>
              <a:gd name="adj" fmla="val 12000"/>
            </a:avLst>
          </a:prstGeom>
          <a:solidFill>
            <a:srgbClr val="3A5BB0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Modulation type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AE14199-9E7C-E94D-B68D-E6FF6FBB9811}"/>
              </a:ext>
            </a:extLst>
          </p:cNvPr>
          <p:cNvSpPr/>
          <p:nvPr/>
        </p:nvSpPr>
        <p:spPr>
          <a:xfrm>
            <a:off x="508000" y="5334000"/>
            <a:ext cx="11176000" cy="889000"/>
          </a:xfrm>
          <a:prstGeom prst="roundRect">
            <a:avLst>
              <a:gd name="adj" fmla="val 12000"/>
            </a:avLst>
          </a:prstGeom>
          <a:solidFill>
            <a:srgbClr val="161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</a:rPr>
              <a:t>Problem: How can an unknown RF signal be identified automatically and reliably – not only in simulation, but on real radio hardware?</a:t>
            </a:r>
          </a:p>
        </p:txBody>
      </p:sp>
    </p:spTree>
    <p:extLst>
      <p:ext uri="{BB962C8B-B14F-4D97-AF65-F5344CB8AC3E}">
        <p14:creationId xmlns:p14="http://schemas.microsoft.com/office/powerpoint/2010/main" val="1203376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6E71E6-693C-839D-C86F-5219290A6116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0D0868-A9E7-2DC4-E570-A5384E550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159D95-91D4-3945-AF29-ED3CEC421D2C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39281D-ED45-5372-3EA5-D7BAFFEAF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441404"/>
              </p:ext>
            </p:extLst>
          </p:nvPr>
        </p:nvGraphicFramePr>
        <p:xfrm>
          <a:off x="508000" y="1117600"/>
          <a:ext cx="11176000" cy="3789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0">
                  <a:extLst>
                    <a:ext uri="{9D8B030D-6E8A-4147-A177-3AD203B41FA5}">
                      <a16:colId xmlns:a16="http://schemas.microsoft.com/office/drawing/2014/main" val="1012282829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78998555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740452441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736569047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Paper (Year)</a:t>
                      </a:r>
                    </a:p>
                  </a:txBody>
                  <a:tcPr marL="101600" marR="76200" marT="38100" marB="38100" anchor="ctr">
                    <a:solidFill>
                      <a:srgbClr val="161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Platform</a:t>
                      </a:r>
                    </a:p>
                  </a:txBody>
                  <a:tcPr marL="101600" marR="76200" marT="38100" marB="38100" anchor="ctr">
                    <a:solidFill>
                      <a:srgbClr val="161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Method used</a:t>
                      </a:r>
                    </a:p>
                  </a:txBody>
                  <a:tcPr marL="101600" marR="76200" marT="38100" marB="38100" anchor="ctr">
                    <a:solidFill>
                      <a:srgbClr val="161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Key findings and gaps</a:t>
                      </a:r>
                    </a:p>
                  </a:txBody>
                  <a:tcPr marL="101600" marR="76200" marT="38100" marB="38100" anchor="ctr">
                    <a:solidFill>
                      <a:srgbClr val="161C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94182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Automatic Modulation Classification with Deep Neural Networks (2023)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MDPI – Electronics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CNN architectures with dilated convolution, statistics pooling and squeeze-and-excitation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2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Findings:</a:t>
                      </a:r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 Achieved strong AMC performance on RadioML 2018.01A; best model reached 98.9% peak accuracy.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2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Gap:</a:t>
                      </a:r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 Focuses mainly on model architecture and dataset evaluation rather than real-time hardware implementation.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70793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Real-time Modulation Classification Architecture in Software Defined Radio (2024)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ScienceDirect – Physical Communication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Low-complexity 1D CNN + SDR-based receiver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2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Findings:</a:t>
                      </a:r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 Demonstrated real-time AMC using SDR; CNN achieved fast inference suitable for real-time operation.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2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Gap:</a:t>
                      </a:r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 Uses a more complete/complex receiver architecture; scope remains for a simpler AI-to-hardware workflow.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4964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Modulation Recognition Based on Multi-modal Fusion of ResNet and Traditional Signal Processing (2025)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IEEE Xplore – IEEE MTT-S IWS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ResNet-18 + traditional signal processing + ADALM-PLUTO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2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Findings:</a:t>
                      </a:r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 Tested modulation recognition using ADALM-PLUTO; ResNet-18 achieved &gt;98% accuracy with faster inference than ResNet-50.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2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Gap:</a:t>
                      </a:r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 Uses a more complex multimodal approach compared with a simpler CNN-based pipeline.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846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A Novel Deep Learning Automatic Modulation Classifier with Fusion of Multichannel Information Using GRU (2023)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Springer Nature – Journal on Wireless Communications and Networking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GRU-based fusion of I/Q and amplitude/phase information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2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Findings:</a:t>
                      </a:r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 Combined I/Q and A/P features to improve AMC, especially at low SNR; evaluated using RadioML data with 128-sample inputs.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2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Gap:</a:t>
                      </a:r>
                      <a:r>
                        <a:rPr lang="en-US" sz="12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 Multi-channel feature fusion increases model complexity for practical deployment.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772751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5A48F1-91A0-2B5E-F2F3-BB01547CB174}"/>
              </a:ext>
            </a:extLst>
          </p:cNvPr>
          <p:cNvSpPr/>
          <p:nvPr/>
        </p:nvSpPr>
        <p:spPr>
          <a:xfrm>
            <a:off x="508000" y="5059680"/>
            <a:ext cx="11176000" cy="508000"/>
          </a:xfrm>
          <a:prstGeom prst="roundRect">
            <a:avLst>
              <a:gd name="adj" fmla="val 12000"/>
            </a:avLst>
          </a:prstGeom>
          <a:solidFill>
            <a:srgbClr val="FDF1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r>
              <a:rPr lang="en-US" sz="1400" b="1">
                <a:solidFill>
                  <a:srgbClr val="161C4C"/>
                </a:solidFill>
                <a:latin typeface="Calibri" panose="020F0502020204030204" pitchFamily="34" charset="0"/>
              </a:rPr>
              <a:t>Our approach: a simple 1D CNN on raw 2 × 128 I/Q – validated on RadioML, then deployed and fine-tuned on a real ADALM-Pluto.</a:t>
            </a:r>
          </a:p>
        </p:txBody>
      </p:sp>
    </p:spTree>
    <p:extLst>
      <p:ext uri="{BB962C8B-B14F-4D97-AF65-F5344CB8AC3E}">
        <p14:creationId xmlns:p14="http://schemas.microsoft.com/office/powerpoint/2010/main" val="291990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D6D75F-BA06-2B94-AE4C-99F29A61E05B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Objectives – all achieved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DCDC24-3747-3D9D-BCF3-452CFA530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399CE5-4ECB-0061-F652-EE355672ACD5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ABC437-7DD5-11CF-59F8-EF698BDDCCDA}"/>
              </a:ext>
            </a:extLst>
          </p:cNvPr>
          <p:cNvSpPr/>
          <p:nvPr/>
        </p:nvSpPr>
        <p:spPr>
          <a:xfrm>
            <a:off x="508000" y="1244600"/>
            <a:ext cx="11176000" cy="685800"/>
          </a:xfrm>
          <a:prstGeom prst="roundRect">
            <a:avLst>
              <a:gd name="adj" fmla="val 15000"/>
            </a:avLst>
          </a:prstGeom>
          <a:solidFill>
            <a:srgbClr val="F4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DD5E8B-1690-B8BA-806A-518E8D986FD4}"/>
              </a:ext>
            </a:extLst>
          </p:cNvPr>
          <p:cNvSpPr/>
          <p:nvPr/>
        </p:nvSpPr>
        <p:spPr>
          <a:xfrm>
            <a:off x="685800" y="1358900"/>
            <a:ext cx="457200" cy="457200"/>
          </a:xfrm>
          <a:prstGeom prst="ellipse">
            <a:avLst/>
          </a:prstGeom>
          <a:solidFill>
            <a:srgbClr val="228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1D5B6-4FB5-8698-ED35-3D989123C05D}"/>
              </a:ext>
            </a:extLst>
          </p:cNvPr>
          <p:cNvSpPr txBox="1"/>
          <p:nvPr/>
        </p:nvSpPr>
        <p:spPr>
          <a:xfrm>
            <a:off x="1346200" y="14097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>
                <a:solidFill>
                  <a:srgbClr val="1E223C"/>
                </a:solidFill>
                <a:latin typeface="Calibri" panose="020F0502020204030204" pitchFamily="34" charset="0"/>
              </a:rPr>
              <a:t>Train a CNN on raw 2 × 128 I/Q samples with separate training, validation and test sets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38AB51-CEE2-15B1-26EE-FC0E65BF8875}"/>
              </a:ext>
            </a:extLst>
          </p:cNvPr>
          <p:cNvSpPr/>
          <p:nvPr/>
        </p:nvSpPr>
        <p:spPr>
          <a:xfrm>
            <a:off x="10236200" y="1409700"/>
            <a:ext cx="1270000" cy="355600"/>
          </a:xfrm>
          <a:prstGeom prst="roundRect">
            <a:avLst>
              <a:gd name="adj" fmla="val 12000"/>
            </a:avLst>
          </a:prstGeom>
          <a:solidFill>
            <a:srgbClr val="DEF4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300" b="1">
                <a:solidFill>
                  <a:srgbClr val="228B54"/>
                </a:solidFill>
                <a:latin typeface="Calibri" panose="020F0502020204030204" pitchFamily="34" charset="0"/>
              </a:rPr>
              <a:t>Achieved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4ADF5C-8D19-6017-7ED1-6C854D8B90FF}"/>
              </a:ext>
            </a:extLst>
          </p:cNvPr>
          <p:cNvSpPr/>
          <p:nvPr/>
        </p:nvSpPr>
        <p:spPr>
          <a:xfrm>
            <a:off x="508000" y="2082800"/>
            <a:ext cx="11176000" cy="685800"/>
          </a:xfrm>
          <a:prstGeom prst="roundRect">
            <a:avLst>
              <a:gd name="adj" fmla="val 15000"/>
            </a:avLst>
          </a:prstGeom>
          <a:solidFill>
            <a:srgbClr val="F4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793F60-73AE-B499-B22A-598A01540A08}"/>
              </a:ext>
            </a:extLst>
          </p:cNvPr>
          <p:cNvSpPr/>
          <p:nvPr/>
        </p:nvSpPr>
        <p:spPr>
          <a:xfrm>
            <a:off x="685800" y="2197100"/>
            <a:ext cx="457200" cy="457200"/>
          </a:xfrm>
          <a:prstGeom prst="ellipse">
            <a:avLst/>
          </a:prstGeom>
          <a:solidFill>
            <a:srgbClr val="228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507FED-F674-AA6D-7E07-BF3A08237E75}"/>
              </a:ext>
            </a:extLst>
          </p:cNvPr>
          <p:cNvSpPr txBox="1"/>
          <p:nvPr/>
        </p:nvSpPr>
        <p:spPr>
          <a:xfrm>
            <a:off x="1346200" y="22479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>
                <a:solidFill>
                  <a:srgbClr val="1E223C"/>
                </a:solidFill>
                <a:latin typeface="Calibri" panose="020F0502020204030204" pitchFamily="34" charset="0"/>
              </a:rPr>
              <a:t>Configure the ADALM-Pluto to transmit and receive all 5 modulations over the air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78349D-D4D9-E1D5-5E15-78E95DC8999C}"/>
              </a:ext>
            </a:extLst>
          </p:cNvPr>
          <p:cNvSpPr/>
          <p:nvPr/>
        </p:nvSpPr>
        <p:spPr>
          <a:xfrm>
            <a:off x="10236200" y="2247900"/>
            <a:ext cx="1270000" cy="355600"/>
          </a:xfrm>
          <a:prstGeom prst="roundRect">
            <a:avLst>
              <a:gd name="adj" fmla="val 12000"/>
            </a:avLst>
          </a:prstGeom>
          <a:solidFill>
            <a:srgbClr val="DEF4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300" b="1">
                <a:solidFill>
                  <a:srgbClr val="228B54"/>
                </a:solidFill>
                <a:latin typeface="Calibri" panose="020F0502020204030204" pitchFamily="34" charset="0"/>
              </a:rPr>
              <a:t>Achieved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78C0D5-4466-67E2-E970-F6CB75E0652D}"/>
              </a:ext>
            </a:extLst>
          </p:cNvPr>
          <p:cNvSpPr/>
          <p:nvPr/>
        </p:nvSpPr>
        <p:spPr>
          <a:xfrm>
            <a:off x="508000" y="2921000"/>
            <a:ext cx="11176000" cy="685800"/>
          </a:xfrm>
          <a:prstGeom prst="roundRect">
            <a:avLst>
              <a:gd name="adj" fmla="val 15000"/>
            </a:avLst>
          </a:prstGeom>
          <a:solidFill>
            <a:srgbClr val="F4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2384BB7-79EA-86C5-0CAB-2DDDA63F094F}"/>
              </a:ext>
            </a:extLst>
          </p:cNvPr>
          <p:cNvSpPr/>
          <p:nvPr/>
        </p:nvSpPr>
        <p:spPr>
          <a:xfrm>
            <a:off x="685800" y="3035300"/>
            <a:ext cx="457200" cy="457200"/>
          </a:xfrm>
          <a:prstGeom prst="ellipse">
            <a:avLst/>
          </a:prstGeom>
          <a:solidFill>
            <a:srgbClr val="228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376F29-83EE-F11B-102A-EA628159F002}"/>
              </a:ext>
            </a:extLst>
          </p:cNvPr>
          <p:cNvSpPr txBox="1"/>
          <p:nvPr/>
        </p:nvSpPr>
        <p:spPr>
          <a:xfrm>
            <a:off x="1346200" y="30861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>
                <a:solidFill>
                  <a:srgbClr val="1E223C"/>
                </a:solidFill>
                <a:latin typeface="Calibri" panose="020F0502020204030204" pitchFamily="34" charset="0"/>
              </a:rPr>
              <a:t>Capture real-time I/Q samples and feed them to the trained CNN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0A3FEB-66F8-BF59-07E3-DD7E8DFAEA65}"/>
              </a:ext>
            </a:extLst>
          </p:cNvPr>
          <p:cNvSpPr/>
          <p:nvPr/>
        </p:nvSpPr>
        <p:spPr>
          <a:xfrm>
            <a:off x="10236200" y="3086100"/>
            <a:ext cx="1270000" cy="355600"/>
          </a:xfrm>
          <a:prstGeom prst="roundRect">
            <a:avLst>
              <a:gd name="adj" fmla="val 12000"/>
            </a:avLst>
          </a:prstGeom>
          <a:solidFill>
            <a:srgbClr val="DEF4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300" b="1">
                <a:solidFill>
                  <a:srgbClr val="228B54"/>
                </a:solidFill>
                <a:latin typeface="Calibri" panose="020F0502020204030204" pitchFamily="34" charset="0"/>
              </a:rPr>
              <a:t>Achieved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9F388A-A134-CC15-1D40-375EC6EC1EFD}"/>
              </a:ext>
            </a:extLst>
          </p:cNvPr>
          <p:cNvSpPr/>
          <p:nvPr/>
        </p:nvSpPr>
        <p:spPr>
          <a:xfrm>
            <a:off x="508000" y="3759200"/>
            <a:ext cx="11176000" cy="685800"/>
          </a:xfrm>
          <a:prstGeom prst="roundRect">
            <a:avLst>
              <a:gd name="adj" fmla="val 15000"/>
            </a:avLst>
          </a:prstGeom>
          <a:solidFill>
            <a:srgbClr val="F4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0DB3229-B5B2-2EFD-F2F0-6D460A757724}"/>
              </a:ext>
            </a:extLst>
          </p:cNvPr>
          <p:cNvSpPr/>
          <p:nvPr/>
        </p:nvSpPr>
        <p:spPr>
          <a:xfrm>
            <a:off x="685800" y="3873500"/>
            <a:ext cx="457200" cy="457200"/>
          </a:xfrm>
          <a:prstGeom prst="ellipse">
            <a:avLst/>
          </a:prstGeom>
          <a:solidFill>
            <a:srgbClr val="228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6888FA-3E79-E256-053C-12F095375B28}"/>
              </a:ext>
            </a:extLst>
          </p:cNvPr>
          <p:cNvSpPr txBox="1"/>
          <p:nvPr/>
        </p:nvSpPr>
        <p:spPr>
          <a:xfrm>
            <a:off x="1346200" y="39243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>
                <a:solidFill>
                  <a:srgbClr val="1E223C"/>
                </a:solidFill>
                <a:latin typeface="Calibri" panose="020F0502020204030204" pitchFamily="34" charset="0"/>
              </a:rPr>
              <a:t>Classify live RF signals in a real-time digital-twin dashboard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B386AAC-A002-A9A8-BBBC-C2869A90FE56}"/>
              </a:ext>
            </a:extLst>
          </p:cNvPr>
          <p:cNvSpPr/>
          <p:nvPr/>
        </p:nvSpPr>
        <p:spPr>
          <a:xfrm>
            <a:off x="10236200" y="3924300"/>
            <a:ext cx="1270000" cy="355600"/>
          </a:xfrm>
          <a:prstGeom prst="roundRect">
            <a:avLst>
              <a:gd name="adj" fmla="val 12000"/>
            </a:avLst>
          </a:prstGeom>
          <a:solidFill>
            <a:srgbClr val="DEF4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300" b="1">
                <a:solidFill>
                  <a:srgbClr val="228B54"/>
                </a:solidFill>
                <a:latin typeface="Calibri" panose="020F0502020204030204" pitchFamily="34" charset="0"/>
              </a:rPr>
              <a:t>Achieved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B678D49-7806-1E53-2F7A-CD48887CFB91}"/>
              </a:ext>
            </a:extLst>
          </p:cNvPr>
          <p:cNvSpPr/>
          <p:nvPr/>
        </p:nvSpPr>
        <p:spPr>
          <a:xfrm>
            <a:off x="508000" y="4597400"/>
            <a:ext cx="11176000" cy="685800"/>
          </a:xfrm>
          <a:prstGeom prst="roundRect">
            <a:avLst>
              <a:gd name="adj" fmla="val 15000"/>
            </a:avLst>
          </a:prstGeom>
          <a:solidFill>
            <a:srgbClr val="F4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04D30C-E8B0-36FB-2ACC-3C6D84DBE293}"/>
              </a:ext>
            </a:extLst>
          </p:cNvPr>
          <p:cNvSpPr/>
          <p:nvPr/>
        </p:nvSpPr>
        <p:spPr>
          <a:xfrm>
            <a:off x="685800" y="4711700"/>
            <a:ext cx="457200" cy="457200"/>
          </a:xfrm>
          <a:prstGeom prst="ellipse">
            <a:avLst/>
          </a:prstGeom>
          <a:solidFill>
            <a:srgbClr val="228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499568-3EEB-12DA-0A63-541C45CBDB64}"/>
              </a:ext>
            </a:extLst>
          </p:cNvPr>
          <p:cNvSpPr txBox="1"/>
          <p:nvPr/>
        </p:nvSpPr>
        <p:spPr>
          <a:xfrm>
            <a:off x="1346200" y="47625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>
                <a:solidFill>
                  <a:srgbClr val="1E223C"/>
                </a:solidFill>
                <a:latin typeface="Calibri" panose="020F0502020204030204" pitchFamily="34" charset="0"/>
              </a:rPr>
              <a:t>Evaluate real-time performance and compare dataset vs. hardware accuracy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25B017A-B3FC-88D8-BDC4-C72A83F95366}"/>
              </a:ext>
            </a:extLst>
          </p:cNvPr>
          <p:cNvSpPr/>
          <p:nvPr/>
        </p:nvSpPr>
        <p:spPr>
          <a:xfrm>
            <a:off x="10236200" y="4762500"/>
            <a:ext cx="1270000" cy="355600"/>
          </a:xfrm>
          <a:prstGeom prst="roundRect">
            <a:avLst>
              <a:gd name="adj" fmla="val 12000"/>
            </a:avLst>
          </a:prstGeom>
          <a:solidFill>
            <a:srgbClr val="DEF4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300" b="1">
                <a:solidFill>
                  <a:srgbClr val="228B54"/>
                </a:solidFill>
                <a:latin typeface="Calibri" panose="020F0502020204030204" pitchFamily="34" charset="0"/>
              </a:rPr>
              <a:t>Achieved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80DCD0C-A65F-09DE-E05E-81B6373E980C}"/>
              </a:ext>
            </a:extLst>
          </p:cNvPr>
          <p:cNvSpPr/>
          <p:nvPr/>
        </p:nvSpPr>
        <p:spPr>
          <a:xfrm>
            <a:off x="508000" y="5435600"/>
            <a:ext cx="11176000" cy="685800"/>
          </a:xfrm>
          <a:prstGeom prst="roundRect">
            <a:avLst>
              <a:gd name="adj" fmla="val 15000"/>
            </a:avLst>
          </a:prstGeom>
          <a:solidFill>
            <a:srgbClr val="F4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E7433BD-E1BA-0AAF-5FB4-D66AD4A8D388}"/>
              </a:ext>
            </a:extLst>
          </p:cNvPr>
          <p:cNvSpPr/>
          <p:nvPr/>
        </p:nvSpPr>
        <p:spPr>
          <a:xfrm>
            <a:off x="685800" y="5549900"/>
            <a:ext cx="457200" cy="457200"/>
          </a:xfrm>
          <a:prstGeom prst="ellipse">
            <a:avLst/>
          </a:prstGeom>
          <a:solidFill>
            <a:srgbClr val="228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44F559-1FD3-AF1A-98E5-B2F0DCD905C2}"/>
              </a:ext>
            </a:extLst>
          </p:cNvPr>
          <p:cNvSpPr txBox="1"/>
          <p:nvPr/>
        </p:nvSpPr>
        <p:spPr>
          <a:xfrm>
            <a:off x="1346200" y="56007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>
                <a:solidFill>
                  <a:srgbClr val="1E223C"/>
                </a:solidFill>
                <a:latin typeface="Calibri" panose="020F0502020204030204" pitchFamily="34" charset="0"/>
              </a:rPr>
              <a:t>Close the simulation-to-reality gap by fine-tuning the CNN on real Pluto data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7C88D28-14B6-1E96-BFEE-235141757A98}"/>
              </a:ext>
            </a:extLst>
          </p:cNvPr>
          <p:cNvSpPr/>
          <p:nvPr/>
        </p:nvSpPr>
        <p:spPr>
          <a:xfrm>
            <a:off x="10236200" y="5600700"/>
            <a:ext cx="1270000" cy="355600"/>
          </a:xfrm>
          <a:prstGeom prst="roundRect">
            <a:avLst>
              <a:gd name="adj" fmla="val 12000"/>
            </a:avLst>
          </a:prstGeom>
          <a:solidFill>
            <a:srgbClr val="DEF4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300" b="1">
                <a:solidFill>
                  <a:srgbClr val="228B54"/>
                </a:solidFill>
                <a:latin typeface="Calibri" panose="020F0502020204030204" pitchFamily="34" charset="0"/>
              </a:rPr>
              <a:t>Achieved</a:t>
            </a:r>
          </a:p>
        </p:txBody>
      </p:sp>
    </p:spTree>
    <p:extLst>
      <p:ext uri="{BB962C8B-B14F-4D97-AF65-F5344CB8AC3E}">
        <p14:creationId xmlns:p14="http://schemas.microsoft.com/office/powerpoint/2010/main" val="2300216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633397-BC81-7C0B-9084-F7BBF8B0B786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Methodology: the RF digital twin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DD1BFF-A9D5-5EF5-84BF-38506B9E9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8885F-F3CF-A962-FA50-A585574462AD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F6E7E4-CD16-23E3-D9B5-95688F921D9A}"/>
              </a:ext>
            </a:extLst>
          </p:cNvPr>
          <p:cNvSpPr/>
          <p:nvPr/>
        </p:nvSpPr>
        <p:spPr>
          <a:xfrm>
            <a:off x="508000" y="1168400"/>
            <a:ext cx="5334000" cy="508000"/>
          </a:xfrm>
          <a:prstGeom prst="roundRect">
            <a:avLst>
              <a:gd name="adj" fmla="val 12000"/>
            </a:avLst>
          </a:prstGeom>
          <a:solidFill>
            <a:srgbClr val="161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VIRTUAL TWIN  –  simulation (mid review)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470435-6D52-4DD6-592A-AEA047D71F16}"/>
              </a:ext>
            </a:extLst>
          </p:cNvPr>
          <p:cNvSpPr/>
          <p:nvPr/>
        </p:nvSpPr>
        <p:spPr>
          <a:xfrm>
            <a:off x="6350000" y="1168400"/>
            <a:ext cx="5334000" cy="508000"/>
          </a:xfrm>
          <a:prstGeom prst="roundRect">
            <a:avLst>
              <a:gd name="adj" fmla="val 12000"/>
            </a:avLst>
          </a:prstGeom>
          <a:solidFill>
            <a:srgbClr val="3A5B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PHYSICAL TWIN  –  ADALM-Pluto hardware (now)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D73838-F348-E3CD-80A9-4A6490888558}"/>
              </a:ext>
            </a:extLst>
          </p:cNvPr>
          <p:cNvSpPr/>
          <p:nvPr/>
        </p:nvSpPr>
        <p:spPr>
          <a:xfrm>
            <a:off x="508000" y="1879600"/>
            <a:ext cx="5334000" cy="482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>
                <a:solidFill>
                  <a:srgbClr val="161C4C"/>
                </a:solidFill>
                <a:latin typeface="Calibri" panose="020F0502020204030204" pitchFamily="34" charset="0"/>
              </a:rPr>
              <a:t>RadioML 2016.10a dataset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DABA17-7B1C-7662-D8CB-D9B764553BD1}"/>
              </a:ext>
            </a:extLst>
          </p:cNvPr>
          <p:cNvSpPr/>
          <p:nvPr/>
        </p:nvSpPr>
        <p:spPr>
          <a:xfrm>
            <a:off x="6350000" y="1879600"/>
            <a:ext cx="5334000" cy="482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>
                <a:solidFill>
                  <a:srgbClr val="161C4C"/>
                </a:solidFill>
                <a:latin typeface="Calibri" panose="020F0502020204030204" pitchFamily="34" charset="0"/>
              </a:rPr>
              <a:t>MATLAB generates the modulated waveform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4D70EA-9DCC-8A84-335A-31C4A77483F1}"/>
              </a:ext>
            </a:extLst>
          </p:cNvPr>
          <p:cNvCxnSpPr/>
          <p:nvPr/>
        </p:nvCxnSpPr>
        <p:spPr>
          <a:xfrm>
            <a:off x="3175000" y="2374900"/>
            <a:ext cx="0" cy="203200"/>
          </a:xfrm>
          <a:prstGeom prst="line">
            <a:avLst/>
          </a:prstGeom>
          <a:ln w="25400">
            <a:solidFill>
              <a:srgbClr val="3A5B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7E4F03-29DC-1DA6-F7D6-E3F90595E0C4}"/>
              </a:ext>
            </a:extLst>
          </p:cNvPr>
          <p:cNvCxnSpPr/>
          <p:nvPr/>
        </p:nvCxnSpPr>
        <p:spPr>
          <a:xfrm>
            <a:off x="9017000" y="2374900"/>
            <a:ext cx="0" cy="203200"/>
          </a:xfrm>
          <a:prstGeom prst="line">
            <a:avLst/>
          </a:prstGeom>
          <a:ln w="25400">
            <a:solidFill>
              <a:srgbClr val="3A5B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DEBE56-56B0-A536-4AF0-0CB79BD3789A}"/>
              </a:ext>
            </a:extLst>
          </p:cNvPr>
          <p:cNvSpPr/>
          <p:nvPr/>
        </p:nvSpPr>
        <p:spPr>
          <a:xfrm>
            <a:off x="508000" y="2590800"/>
            <a:ext cx="5334000" cy="482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nn-NO" sz="1500">
                <a:solidFill>
                  <a:srgbClr val="161C4C"/>
                </a:solidFill>
                <a:latin typeface="Calibri" panose="020F0502020204030204" pitchFamily="34" charset="0"/>
              </a:rPr>
              <a:t>2 × 128 I/Q frames</a:t>
            </a:r>
            <a:endParaRPr lang="en-US" sz="1500">
              <a:solidFill>
                <a:srgbClr val="161C4C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CFC248-C3D4-4831-EECE-314B147651DB}"/>
              </a:ext>
            </a:extLst>
          </p:cNvPr>
          <p:cNvSpPr/>
          <p:nvPr/>
        </p:nvSpPr>
        <p:spPr>
          <a:xfrm>
            <a:off x="6350000" y="2590800"/>
            <a:ext cx="5334000" cy="482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>
                <a:solidFill>
                  <a:srgbClr val="161C4C"/>
                </a:solidFill>
                <a:latin typeface="Calibri" panose="020F0502020204030204" pitchFamily="34" charset="0"/>
              </a:rPr>
              <a:t>Pluto TX  →  antenna  →  air  →  antenna  →  Pluto RX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67129F-A891-9F82-6477-84EDC5666B72}"/>
              </a:ext>
            </a:extLst>
          </p:cNvPr>
          <p:cNvCxnSpPr/>
          <p:nvPr/>
        </p:nvCxnSpPr>
        <p:spPr>
          <a:xfrm>
            <a:off x="3175000" y="3086100"/>
            <a:ext cx="0" cy="203200"/>
          </a:xfrm>
          <a:prstGeom prst="line">
            <a:avLst/>
          </a:prstGeom>
          <a:ln w="25400">
            <a:solidFill>
              <a:srgbClr val="3A5B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5E8915-B09E-560F-4806-E2C12CFCEF48}"/>
              </a:ext>
            </a:extLst>
          </p:cNvPr>
          <p:cNvCxnSpPr/>
          <p:nvPr/>
        </p:nvCxnSpPr>
        <p:spPr>
          <a:xfrm>
            <a:off x="9017000" y="3086100"/>
            <a:ext cx="0" cy="203200"/>
          </a:xfrm>
          <a:prstGeom prst="line">
            <a:avLst/>
          </a:prstGeom>
          <a:ln w="25400">
            <a:solidFill>
              <a:srgbClr val="3A5B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0372B6-9B45-79D7-A0CD-0B543A84A7BA}"/>
              </a:ext>
            </a:extLst>
          </p:cNvPr>
          <p:cNvSpPr/>
          <p:nvPr/>
        </p:nvSpPr>
        <p:spPr>
          <a:xfrm>
            <a:off x="508000" y="3302000"/>
            <a:ext cx="5334000" cy="482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>
                <a:solidFill>
                  <a:srgbClr val="161C4C"/>
                </a:solidFill>
                <a:latin typeface="Calibri" panose="020F0502020204030204" pitchFamily="34" charset="0"/>
              </a:rPr>
              <a:t>1D CNN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BC828F-D385-BE3F-026D-3F1DEBE12140}"/>
              </a:ext>
            </a:extLst>
          </p:cNvPr>
          <p:cNvSpPr/>
          <p:nvPr/>
        </p:nvSpPr>
        <p:spPr>
          <a:xfrm>
            <a:off x="6350000" y="3302000"/>
            <a:ext cx="5334000" cy="482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>
                <a:solidFill>
                  <a:srgbClr val="161C4C"/>
                </a:solidFill>
                <a:latin typeface="Calibri" panose="020F0502020204030204" pitchFamily="34" charset="0"/>
              </a:rPr>
              <a:t>Frame + normalise to 2 × 128 I/Q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634E19-6DA0-DFA6-27B7-6E6D26347217}"/>
              </a:ext>
            </a:extLst>
          </p:cNvPr>
          <p:cNvCxnSpPr/>
          <p:nvPr/>
        </p:nvCxnSpPr>
        <p:spPr>
          <a:xfrm>
            <a:off x="3175000" y="3797300"/>
            <a:ext cx="0" cy="203200"/>
          </a:xfrm>
          <a:prstGeom prst="line">
            <a:avLst/>
          </a:prstGeom>
          <a:ln w="25400">
            <a:solidFill>
              <a:srgbClr val="3A5B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98851A-B193-9F03-338E-4FE88ED61C95}"/>
              </a:ext>
            </a:extLst>
          </p:cNvPr>
          <p:cNvCxnSpPr/>
          <p:nvPr/>
        </p:nvCxnSpPr>
        <p:spPr>
          <a:xfrm>
            <a:off x="9017000" y="3797300"/>
            <a:ext cx="0" cy="203200"/>
          </a:xfrm>
          <a:prstGeom prst="line">
            <a:avLst/>
          </a:prstGeom>
          <a:ln w="25400">
            <a:solidFill>
              <a:srgbClr val="3A5B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DDEFA5F-157D-2710-2C3B-AD4E518E317F}"/>
              </a:ext>
            </a:extLst>
          </p:cNvPr>
          <p:cNvSpPr/>
          <p:nvPr/>
        </p:nvSpPr>
        <p:spPr>
          <a:xfrm>
            <a:off x="508000" y="4013200"/>
            <a:ext cx="5334000" cy="482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>
                <a:solidFill>
                  <a:srgbClr val="161C4C"/>
                </a:solidFill>
                <a:latin typeface="Calibri" panose="020F0502020204030204" pitchFamily="34" charset="0"/>
              </a:rPr>
              <a:t>Predicted modulation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8F74923-7700-4412-1AF8-9EAA1E8D9F17}"/>
              </a:ext>
            </a:extLst>
          </p:cNvPr>
          <p:cNvSpPr/>
          <p:nvPr/>
        </p:nvSpPr>
        <p:spPr>
          <a:xfrm>
            <a:off x="6350000" y="4013200"/>
            <a:ext cx="5334000" cy="482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>
                <a:solidFill>
                  <a:srgbClr val="161C4C"/>
                </a:solidFill>
                <a:latin typeface="Calibri" panose="020F0502020204030204" pitchFamily="34" charset="0"/>
              </a:rPr>
              <a:t>Same 1D CNN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5BD3ECD-BBAC-01CC-CF81-7DEBFFCA932C}"/>
              </a:ext>
            </a:extLst>
          </p:cNvPr>
          <p:cNvCxnSpPr/>
          <p:nvPr/>
        </p:nvCxnSpPr>
        <p:spPr>
          <a:xfrm>
            <a:off x="3175000" y="4508500"/>
            <a:ext cx="0" cy="203200"/>
          </a:xfrm>
          <a:prstGeom prst="line">
            <a:avLst/>
          </a:prstGeom>
          <a:ln w="25400">
            <a:solidFill>
              <a:srgbClr val="3A5B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DC89254-A284-48BD-323B-E65BD1EC2643}"/>
              </a:ext>
            </a:extLst>
          </p:cNvPr>
          <p:cNvCxnSpPr/>
          <p:nvPr/>
        </p:nvCxnSpPr>
        <p:spPr>
          <a:xfrm>
            <a:off x="9017000" y="4508500"/>
            <a:ext cx="0" cy="203200"/>
          </a:xfrm>
          <a:prstGeom prst="line">
            <a:avLst/>
          </a:prstGeom>
          <a:ln w="25400">
            <a:solidFill>
              <a:srgbClr val="3A5B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162F37-C98D-4A3F-6D3F-32BAA497E625}"/>
              </a:ext>
            </a:extLst>
          </p:cNvPr>
          <p:cNvSpPr/>
          <p:nvPr/>
        </p:nvSpPr>
        <p:spPr>
          <a:xfrm>
            <a:off x="508000" y="4724400"/>
            <a:ext cx="5334000" cy="482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>
                <a:solidFill>
                  <a:srgbClr val="161C4C"/>
                </a:solidFill>
                <a:latin typeface="Calibri" panose="020F0502020204030204" pitchFamily="34" charset="0"/>
              </a:rPr>
              <a:t>Compare with dataset label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7EBC0E8-5965-B354-832C-CCF4A2988B98}"/>
              </a:ext>
            </a:extLst>
          </p:cNvPr>
          <p:cNvSpPr/>
          <p:nvPr/>
        </p:nvSpPr>
        <p:spPr>
          <a:xfrm>
            <a:off x="6350000" y="4724400"/>
            <a:ext cx="5334000" cy="4826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>
                <a:solidFill>
                  <a:srgbClr val="161C4C"/>
                </a:solidFill>
                <a:latin typeface="Calibri" panose="020F0502020204030204" pitchFamily="34" charset="0"/>
              </a:rPr>
              <a:t>Live prediction vs. transmitted label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1D8C8DE-BB38-1BC6-C6A3-A0A5A25EE73D}"/>
              </a:ext>
            </a:extLst>
          </p:cNvPr>
          <p:cNvSpPr/>
          <p:nvPr/>
        </p:nvSpPr>
        <p:spPr>
          <a:xfrm>
            <a:off x="508000" y="5562600"/>
            <a:ext cx="11176000" cy="660400"/>
          </a:xfrm>
          <a:prstGeom prst="roundRect">
            <a:avLst>
              <a:gd name="adj" fmla="val 12000"/>
            </a:avLst>
          </a:prstGeom>
          <a:solidFill>
            <a:srgbClr val="FDF1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600" b="1">
                <a:solidFill>
                  <a:srgbClr val="161C4C"/>
                </a:solidFill>
                <a:latin typeface="Calibri" panose="020F0502020204030204" pitchFamily="34" charset="0"/>
              </a:rPr>
              <a:t>Measure the gap  →  fine-tune the CNN on real Pluto data  →  re-test on a fresh capture</a:t>
            </a:r>
          </a:p>
        </p:txBody>
      </p:sp>
    </p:spTree>
    <p:extLst>
      <p:ext uri="{BB962C8B-B14F-4D97-AF65-F5344CB8AC3E}">
        <p14:creationId xmlns:p14="http://schemas.microsoft.com/office/powerpoint/2010/main" val="2546670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3A7CB9-5498-64D5-08A4-032845A5A656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Hardware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549AD6-E664-F99F-AF5C-A7A24B2BE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C360C9-8E3B-B076-5865-8A45B63E3CB8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615F0E-339D-24A9-731E-845D62745898}"/>
              </a:ext>
            </a:extLst>
          </p:cNvPr>
          <p:cNvSpPr/>
          <p:nvPr/>
        </p:nvSpPr>
        <p:spPr>
          <a:xfrm>
            <a:off x="508000" y="2717800"/>
            <a:ext cx="1905000" cy="1168400"/>
          </a:xfrm>
          <a:prstGeom prst="roundRect">
            <a:avLst>
              <a:gd name="adj" fmla="val 12000"/>
            </a:avLst>
          </a:prstGeom>
          <a:solidFill>
            <a:srgbClr val="161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Laptop</a:t>
            </a:r>
          </a:p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MATLAB R2026b</a:t>
            </a:r>
          </a:p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+ CNN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C1C65A-967A-6AC6-09CC-3B9606C6E67E}"/>
              </a:ext>
            </a:extLst>
          </p:cNvPr>
          <p:cNvCxnSpPr/>
          <p:nvPr/>
        </p:nvCxnSpPr>
        <p:spPr>
          <a:xfrm>
            <a:off x="2438400" y="3302000"/>
            <a:ext cx="1346200" cy="0"/>
          </a:xfrm>
          <a:prstGeom prst="line">
            <a:avLst/>
          </a:prstGeom>
          <a:ln w="31750">
            <a:solidFill>
              <a:srgbClr val="3A5BB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366B41A-68A0-F5C8-D03D-BE0D827F5489}"/>
              </a:ext>
            </a:extLst>
          </p:cNvPr>
          <p:cNvSpPr txBox="1"/>
          <p:nvPr/>
        </p:nvSpPr>
        <p:spPr>
          <a:xfrm>
            <a:off x="2438400" y="2870200"/>
            <a:ext cx="1346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>
                <a:solidFill>
                  <a:srgbClr val="606680"/>
                </a:solidFill>
                <a:latin typeface="Calibri" panose="020F0502020204030204" pitchFamily="34" charset="0"/>
              </a:rPr>
              <a:t>USB (data + power)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8CFE7A-8E64-04E1-6ECF-3052572E1FD0}"/>
              </a:ext>
            </a:extLst>
          </p:cNvPr>
          <p:cNvSpPr/>
          <p:nvPr/>
        </p:nvSpPr>
        <p:spPr>
          <a:xfrm>
            <a:off x="3810000" y="2489200"/>
            <a:ext cx="2540000" cy="1625600"/>
          </a:xfrm>
          <a:prstGeom prst="roundRect">
            <a:avLst>
              <a:gd name="adj" fmla="val 12000"/>
            </a:avLst>
          </a:prstGeom>
          <a:solidFill>
            <a:srgbClr val="3A5B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Calibri" panose="020F0502020204030204" pitchFamily="34" charset="0"/>
              </a:rPr>
              <a:t>ADALM-Pluto</a:t>
            </a:r>
          </a:p>
          <a:p>
            <a:pPr algn="ctr"/>
            <a:r>
              <a:rPr lang="en-US" sz="1700" b="1">
                <a:solidFill>
                  <a:srgbClr val="FFFFFF"/>
                </a:solidFill>
                <a:latin typeface="Calibri" panose="020F0502020204030204" pitchFamily="34" charset="0"/>
              </a:rPr>
              <a:t>AD9363 SDR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0DDD6A-28B2-6585-2490-E5A28DF14590}"/>
              </a:ext>
            </a:extLst>
          </p:cNvPr>
          <p:cNvSpPr/>
          <p:nvPr/>
        </p:nvSpPr>
        <p:spPr>
          <a:xfrm>
            <a:off x="4191000" y="1422400"/>
            <a:ext cx="127000" cy="106680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47E6DD-A7F0-3A1F-CB8C-228F9516FB1D}"/>
              </a:ext>
            </a:extLst>
          </p:cNvPr>
          <p:cNvSpPr/>
          <p:nvPr/>
        </p:nvSpPr>
        <p:spPr>
          <a:xfrm>
            <a:off x="4114800" y="2387600"/>
            <a:ext cx="279400" cy="127000"/>
          </a:xfrm>
          <a:prstGeom prst="rect">
            <a:avLst/>
          </a:prstGeom>
          <a:solidFill>
            <a:srgbClr val="E896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00E3EB-A996-0CA1-2981-1D83229D2ADA}"/>
              </a:ext>
            </a:extLst>
          </p:cNvPr>
          <p:cNvSpPr/>
          <p:nvPr/>
        </p:nvSpPr>
        <p:spPr>
          <a:xfrm>
            <a:off x="5715000" y="1422400"/>
            <a:ext cx="127000" cy="106680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4D9894-D462-8F62-6973-EB906D8E13E4}"/>
              </a:ext>
            </a:extLst>
          </p:cNvPr>
          <p:cNvSpPr/>
          <p:nvPr/>
        </p:nvSpPr>
        <p:spPr>
          <a:xfrm>
            <a:off x="5638800" y="2387600"/>
            <a:ext cx="279400" cy="127000"/>
          </a:xfrm>
          <a:prstGeom prst="rect">
            <a:avLst/>
          </a:prstGeom>
          <a:solidFill>
            <a:srgbClr val="E896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96D9DA-F79D-CA18-3AB2-27C84BD37D40}"/>
              </a:ext>
            </a:extLst>
          </p:cNvPr>
          <p:cNvSpPr txBox="1"/>
          <p:nvPr/>
        </p:nvSpPr>
        <p:spPr>
          <a:xfrm>
            <a:off x="3937000" y="41910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161C4C"/>
                </a:solidFill>
                <a:latin typeface="Calibri" panose="020F0502020204030204" pitchFamily="34" charset="0"/>
              </a:rPr>
              <a:t>TX1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2813AC-FC75-7E2B-D41D-DFE00725C565}"/>
              </a:ext>
            </a:extLst>
          </p:cNvPr>
          <p:cNvSpPr txBox="1"/>
          <p:nvPr/>
        </p:nvSpPr>
        <p:spPr>
          <a:xfrm>
            <a:off x="5461000" y="41910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161C4C"/>
                </a:solidFill>
                <a:latin typeface="Calibri" panose="020F0502020204030204" pitchFamily="34" charset="0"/>
              </a:rPr>
              <a:t>RX1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59E4A9-7B88-E758-64C3-E905283B803F}"/>
              </a:ext>
            </a:extLst>
          </p:cNvPr>
          <p:cNvCxnSpPr/>
          <p:nvPr/>
        </p:nvCxnSpPr>
        <p:spPr>
          <a:xfrm>
            <a:off x="4394200" y="1574800"/>
            <a:ext cx="1270000" cy="0"/>
          </a:xfrm>
          <a:prstGeom prst="line">
            <a:avLst/>
          </a:prstGeom>
          <a:ln w="31750">
            <a:solidFill>
              <a:srgbClr val="E896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553244D-AF55-3B6C-BD18-D9CA3FAC2137}"/>
              </a:ext>
            </a:extLst>
          </p:cNvPr>
          <p:cNvSpPr txBox="1"/>
          <p:nvPr/>
        </p:nvSpPr>
        <p:spPr>
          <a:xfrm>
            <a:off x="4064000" y="11684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E89628"/>
                </a:solidFill>
                <a:latin typeface="Calibri" panose="020F0502020204030204" pitchFamily="34" charset="0"/>
              </a:rPr>
              <a:t>915 MHz over the air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921A19-C6B8-10ED-2FC3-D7EC10564199}"/>
              </a:ext>
            </a:extLst>
          </p:cNvPr>
          <p:cNvSpPr txBox="1"/>
          <p:nvPr/>
        </p:nvSpPr>
        <p:spPr>
          <a:xfrm>
            <a:off x="508000" y="4724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One board transmits and receives at the same time (full duplex)</a:t>
            </a:r>
          </a:p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TX and RX share one clock, so frequency offset is negligible</a:t>
            </a:r>
          </a:p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Antennas give a real wireless channel: noise, reflections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18D5933-DF1C-9EAA-018C-88AAF568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616118"/>
              </p:ext>
            </p:extLst>
          </p:nvPr>
        </p:nvGraphicFramePr>
        <p:xfrm>
          <a:off x="7239000" y="1219200"/>
          <a:ext cx="4445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925999709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99553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Component</a:t>
                      </a:r>
                    </a:p>
                  </a:txBody>
                  <a:tcPr marL="101600" marR="76200" marT="38100" marB="38100" anchor="ctr">
                    <a:solidFill>
                      <a:srgbClr val="161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Details</a:t>
                      </a:r>
                    </a:p>
                  </a:txBody>
                  <a:tcPr marL="101600" marR="76200" marT="38100" marB="38100" anchor="ctr">
                    <a:solidFill>
                      <a:srgbClr val="161C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84902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ADALM-Pluto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AD9363, 325 MHz – 3.8 GHz, 1 TX + 1 RX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72595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2 SMA antennas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On TX1 and RX1, about 2 cm apart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54153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USB cable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Micro-B data port: I/Q samples + power</a:t>
                      </a:r>
                      <a:endParaRPr lang="en-US" sz="1300" b="0">
                        <a:solidFill>
                          <a:srgbClr val="1E223C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0029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MATLAB R2026b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Communications, DSP, Signal Processing and Deep Learning toolboxes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82623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Support package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Communications Toolbox Support Package for ADALM-PLUTO Radio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872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83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6B727F-560E-CDA9-A202-3FDCD273DBAF}"/>
              </a:ext>
            </a:extLst>
          </p:cNvPr>
          <p:cNvSpPr txBox="1"/>
          <p:nvPr/>
        </p:nvSpPr>
        <p:spPr>
          <a:xfrm>
            <a:off x="156594" y="639989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 dirty="0">
                <a:solidFill>
                  <a:srgbClr val="161C4C"/>
                </a:solidFill>
                <a:latin typeface="Times New Roman" panose="02020603050405020304" pitchFamily="18" charset="0"/>
              </a:rPr>
              <a:t>What the receiver sees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9B9316-4AFA-84FD-DE37-905D8FC2A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88590D-AD30-0190-CF0D-30F48C588361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F1C348-4139-2E77-522A-2BD1ADB2D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94" y="1786622"/>
            <a:ext cx="11878811" cy="3322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99F081-ED9D-5AF6-4902-5015025FEE18}"/>
              </a:ext>
            </a:extLst>
          </p:cNvPr>
          <p:cNvSpPr txBox="1"/>
          <p:nvPr/>
        </p:nvSpPr>
        <p:spPr>
          <a:xfrm>
            <a:off x="609600" y="3683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en-US" sz="1300" dirty="0">
              <a:solidFill>
                <a:srgbClr val="60668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3F2804-AEDF-3C94-62F5-78239CBCBDA2}"/>
              </a:ext>
            </a:extLst>
          </p:cNvPr>
          <p:cNvSpPr txBox="1"/>
          <p:nvPr/>
        </p:nvSpPr>
        <p:spPr>
          <a:xfrm>
            <a:off x="2769300" y="4924571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en-US" sz="1300" dirty="0">
              <a:solidFill>
                <a:srgbClr val="60668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00C78D-2CEF-7AC9-F425-820EB34F2B89}"/>
              </a:ext>
            </a:extLst>
          </p:cNvPr>
          <p:cNvSpPr txBox="1"/>
          <p:nvPr/>
        </p:nvSpPr>
        <p:spPr>
          <a:xfrm>
            <a:off x="5080000" y="3951447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en-US" sz="1300" dirty="0">
              <a:solidFill>
                <a:srgbClr val="60668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CE7B8-B7C9-5709-FA63-1B73A6EA41EB}"/>
              </a:ext>
            </a:extLst>
          </p:cNvPr>
          <p:cNvSpPr txBox="1"/>
          <p:nvPr/>
        </p:nvSpPr>
        <p:spPr>
          <a:xfrm>
            <a:off x="7365534" y="24576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en-US" sz="1300" dirty="0">
              <a:solidFill>
                <a:srgbClr val="60668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BCA06A-80A7-24D8-CA16-CF67F8A36FC1}"/>
              </a:ext>
            </a:extLst>
          </p:cNvPr>
          <p:cNvSpPr txBox="1"/>
          <p:nvPr/>
        </p:nvSpPr>
        <p:spPr>
          <a:xfrm>
            <a:off x="9550400" y="3683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en-US" sz="1300" dirty="0">
              <a:solidFill>
                <a:srgbClr val="60668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763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E0C470-AB91-4C78-4C67-D5F21DD564CC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CNN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D1931-D08B-5D40-37E7-40566E139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2E55B-9CD4-4A8E-3BB8-7D308C9E3728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D15E06-E3C9-E49F-59F8-C3C319DF87EA}"/>
              </a:ext>
            </a:extLst>
          </p:cNvPr>
          <p:cNvSpPr/>
          <p:nvPr/>
        </p:nvSpPr>
        <p:spPr>
          <a:xfrm>
            <a:off x="508000" y="1320800"/>
            <a:ext cx="1651000" cy="10668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61C4C"/>
                </a:solidFill>
                <a:latin typeface="Calibri" panose="020F0502020204030204" pitchFamily="34" charset="0"/>
              </a:rPr>
              <a:t>Input</a:t>
            </a:r>
          </a:p>
          <a:p>
            <a:pPr algn="ctr"/>
            <a:r>
              <a:rPr lang="en-US" sz="1500" b="1">
                <a:solidFill>
                  <a:srgbClr val="161C4C"/>
                </a:solidFill>
                <a:latin typeface="Calibri" panose="020F0502020204030204" pitchFamily="34" charset="0"/>
              </a:rPr>
              <a:t>2 × 128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41DF74-55CA-D855-C805-2926D4571615}"/>
              </a:ext>
            </a:extLst>
          </p:cNvPr>
          <p:cNvCxnSpPr/>
          <p:nvPr/>
        </p:nvCxnSpPr>
        <p:spPr>
          <a:xfrm>
            <a:off x="2171700" y="1854200"/>
            <a:ext cx="228600" cy="0"/>
          </a:xfrm>
          <a:prstGeom prst="line">
            <a:avLst/>
          </a:prstGeom>
          <a:ln w="25400">
            <a:solidFill>
              <a:srgbClr val="161C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C771CF-B1D1-8ADF-6F6E-E162B054D313}"/>
              </a:ext>
            </a:extLst>
          </p:cNvPr>
          <p:cNvSpPr/>
          <p:nvPr/>
        </p:nvSpPr>
        <p:spPr>
          <a:xfrm>
            <a:off x="2413000" y="1320800"/>
            <a:ext cx="1651000" cy="10668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 dirty="0">
                <a:solidFill>
                  <a:srgbClr val="161C4C"/>
                </a:solidFill>
                <a:latin typeface="Calibri" panose="020F0502020204030204" pitchFamily="34" charset="0"/>
              </a:rPr>
              <a:t>Conv1D 5 × 32</a:t>
            </a:r>
          </a:p>
          <a:p>
            <a:pPr algn="ctr"/>
            <a:r>
              <a:rPr lang="en-US" sz="1500" b="1" dirty="0">
                <a:solidFill>
                  <a:srgbClr val="161C4C"/>
                </a:solidFill>
                <a:latin typeface="Calibri" panose="020F0502020204030204" pitchFamily="34" charset="0"/>
              </a:rPr>
              <a:t> + </a:t>
            </a:r>
            <a:r>
              <a:rPr lang="en-US" sz="1500" b="1" dirty="0" err="1">
                <a:solidFill>
                  <a:srgbClr val="161C4C"/>
                </a:solidFill>
                <a:latin typeface="Calibri" panose="020F0502020204030204" pitchFamily="34" charset="0"/>
              </a:rPr>
              <a:t>ReLU</a:t>
            </a:r>
            <a:endParaRPr lang="en-US" sz="1500" b="1" dirty="0">
              <a:solidFill>
                <a:srgbClr val="161C4C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76C719-67FC-AA90-757F-785F83A40CE3}"/>
              </a:ext>
            </a:extLst>
          </p:cNvPr>
          <p:cNvCxnSpPr/>
          <p:nvPr/>
        </p:nvCxnSpPr>
        <p:spPr>
          <a:xfrm>
            <a:off x="4076700" y="1854200"/>
            <a:ext cx="228600" cy="0"/>
          </a:xfrm>
          <a:prstGeom prst="line">
            <a:avLst/>
          </a:prstGeom>
          <a:ln w="25400">
            <a:solidFill>
              <a:srgbClr val="161C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7A54F7-2D15-7F54-94AF-D6A9077111C9}"/>
              </a:ext>
            </a:extLst>
          </p:cNvPr>
          <p:cNvSpPr/>
          <p:nvPr/>
        </p:nvSpPr>
        <p:spPr>
          <a:xfrm>
            <a:off x="4318000" y="1320800"/>
            <a:ext cx="1651000" cy="1066800"/>
          </a:xfrm>
          <a:prstGeom prst="roundRect">
            <a:avLst>
              <a:gd name="adj" fmla="val 12000"/>
            </a:avLst>
          </a:prstGeom>
          <a:solidFill>
            <a:srgbClr val="96B2E6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 dirty="0">
                <a:solidFill>
                  <a:srgbClr val="161C4C"/>
                </a:solidFill>
                <a:latin typeface="Calibri" panose="020F0502020204030204" pitchFamily="34" charset="0"/>
              </a:rPr>
              <a:t>Conv1D 5 × 64 </a:t>
            </a:r>
          </a:p>
          <a:p>
            <a:pPr algn="ctr"/>
            <a:r>
              <a:rPr lang="en-US" sz="1500" b="1" dirty="0">
                <a:solidFill>
                  <a:srgbClr val="161C4C"/>
                </a:solidFill>
                <a:latin typeface="Calibri" panose="020F0502020204030204" pitchFamily="34" charset="0"/>
              </a:rPr>
              <a:t>+ </a:t>
            </a:r>
            <a:r>
              <a:rPr lang="en-US" sz="1500" b="1" dirty="0" err="1">
                <a:solidFill>
                  <a:srgbClr val="161C4C"/>
                </a:solidFill>
                <a:latin typeface="Calibri" panose="020F0502020204030204" pitchFamily="34" charset="0"/>
              </a:rPr>
              <a:t>ReLU</a:t>
            </a:r>
            <a:endParaRPr lang="en-US" sz="1500" b="1" dirty="0">
              <a:solidFill>
                <a:srgbClr val="161C4C"/>
              </a:solidFill>
              <a:latin typeface="Calibri" panose="020F05020202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80E37A-BAF8-7CF7-441A-B5859B16230C}"/>
              </a:ext>
            </a:extLst>
          </p:cNvPr>
          <p:cNvCxnSpPr/>
          <p:nvPr/>
        </p:nvCxnSpPr>
        <p:spPr>
          <a:xfrm>
            <a:off x="5981700" y="1854200"/>
            <a:ext cx="228600" cy="0"/>
          </a:xfrm>
          <a:prstGeom prst="line">
            <a:avLst/>
          </a:prstGeom>
          <a:ln w="25400">
            <a:solidFill>
              <a:srgbClr val="161C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27FAAB-C4D3-5C82-AE84-84AD12130766}"/>
              </a:ext>
            </a:extLst>
          </p:cNvPr>
          <p:cNvSpPr/>
          <p:nvPr/>
        </p:nvSpPr>
        <p:spPr>
          <a:xfrm>
            <a:off x="6223000" y="1320800"/>
            <a:ext cx="1651000" cy="1066800"/>
          </a:xfrm>
          <a:prstGeom prst="roundRect">
            <a:avLst>
              <a:gd name="adj" fmla="val 12000"/>
            </a:avLst>
          </a:prstGeom>
          <a:solidFill>
            <a:srgbClr val="5F7EC8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Global avg</a:t>
            </a:r>
          </a:p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pooling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D55E27-A504-155D-8A9F-EA82493813C7}"/>
              </a:ext>
            </a:extLst>
          </p:cNvPr>
          <p:cNvCxnSpPr/>
          <p:nvPr/>
        </p:nvCxnSpPr>
        <p:spPr>
          <a:xfrm>
            <a:off x="7886700" y="1854200"/>
            <a:ext cx="228600" cy="0"/>
          </a:xfrm>
          <a:prstGeom prst="line">
            <a:avLst/>
          </a:prstGeom>
          <a:ln w="25400">
            <a:solidFill>
              <a:srgbClr val="161C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AA55DB-BA50-E8CA-2011-6255D4A978CC}"/>
              </a:ext>
            </a:extLst>
          </p:cNvPr>
          <p:cNvSpPr/>
          <p:nvPr/>
        </p:nvSpPr>
        <p:spPr>
          <a:xfrm>
            <a:off x="8128000" y="1320800"/>
            <a:ext cx="1651000" cy="1066800"/>
          </a:xfrm>
          <a:prstGeom prst="roundRect">
            <a:avLst>
              <a:gd name="adj" fmla="val 12000"/>
            </a:avLst>
          </a:prstGeom>
          <a:solidFill>
            <a:srgbClr val="3A5BB0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Fully</a:t>
            </a:r>
          </a:p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connected (5)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E9964F-DFA7-8E96-0ECA-88CED3C123EA}"/>
              </a:ext>
            </a:extLst>
          </p:cNvPr>
          <p:cNvCxnSpPr/>
          <p:nvPr/>
        </p:nvCxnSpPr>
        <p:spPr>
          <a:xfrm>
            <a:off x="9791700" y="1854200"/>
            <a:ext cx="228600" cy="0"/>
          </a:xfrm>
          <a:prstGeom prst="line">
            <a:avLst/>
          </a:prstGeom>
          <a:ln w="25400">
            <a:solidFill>
              <a:srgbClr val="161C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E7B346-AEDB-0109-E073-E903C0E982ED}"/>
              </a:ext>
            </a:extLst>
          </p:cNvPr>
          <p:cNvSpPr/>
          <p:nvPr/>
        </p:nvSpPr>
        <p:spPr>
          <a:xfrm>
            <a:off x="10033000" y="1320800"/>
            <a:ext cx="1651000" cy="1066800"/>
          </a:xfrm>
          <a:prstGeom prst="roundRect">
            <a:avLst>
              <a:gd name="adj" fmla="val 12000"/>
            </a:avLst>
          </a:prstGeom>
          <a:solidFill>
            <a:srgbClr val="161C4C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Softmax</a:t>
            </a:r>
          </a:p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→ class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6B717C-6521-58CB-D70A-72BD5B1C005C}"/>
              </a:ext>
            </a:extLst>
          </p:cNvPr>
          <p:cNvSpPr/>
          <p:nvPr/>
        </p:nvSpPr>
        <p:spPr>
          <a:xfrm>
            <a:off x="508000" y="2870200"/>
            <a:ext cx="5334000" cy="2921000"/>
          </a:xfrm>
          <a:prstGeom prst="roundRect">
            <a:avLst>
              <a:gd name="adj" fmla="val 6000"/>
            </a:avLst>
          </a:prstGeom>
          <a:solidFill>
            <a:srgbClr val="F4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4ACC4-C4BC-FF79-C8EC-DADB3018B414}"/>
              </a:ext>
            </a:extLst>
          </p:cNvPr>
          <p:cNvSpPr txBox="1"/>
          <p:nvPr/>
        </p:nvSpPr>
        <p:spPr>
          <a:xfrm>
            <a:off x="762000" y="3073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61C4C"/>
                </a:solidFill>
                <a:latin typeface="Calibri" panose="020F0502020204030204" pitchFamily="34" charset="0"/>
              </a:rPr>
              <a:t>Training on RadioML (dataset)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BF11AF-96C3-A6D6-CACB-E9A5C822B3BE}"/>
              </a:ext>
            </a:extLst>
          </p:cNvPr>
          <p:cNvSpPr txBox="1"/>
          <p:nvPr/>
        </p:nvSpPr>
        <p:spPr>
          <a:xfrm>
            <a:off x="762000" y="3530600"/>
            <a:ext cx="4889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70 / 15 / 15 split: training / validation / test</a:t>
            </a:r>
          </a:p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Adam, learning rate 0.001, mini-batch 128</a:t>
            </a:r>
          </a:p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Early stopping on validation loss (max 30 epochs)</a:t>
            </a:r>
          </a:p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5 classes, SNR ≥ 10 dB</a:t>
            </a:r>
          </a:p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Test accuracy: 85.25%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5795C7C-4F7F-D08F-4669-3357CF4900EE}"/>
              </a:ext>
            </a:extLst>
          </p:cNvPr>
          <p:cNvSpPr/>
          <p:nvPr/>
        </p:nvSpPr>
        <p:spPr>
          <a:xfrm>
            <a:off x="6350000" y="2870200"/>
            <a:ext cx="5334000" cy="2921000"/>
          </a:xfrm>
          <a:prstGeom prst="roundRect">
            <a:avLst>
              <a:gd name="adj" fmla="val 6000"/>
            </a:avLst>
          </a:prstGeom>
          <a:solidFill>
            <a:srgbClr val="F4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BB2A34-2E6C-69BA-F829-AD9385D298FD}"/>
              </a:ext>
            </a:extLst>
          </p:cNvPr>
          <p:cNvSpPr txBox="1"/>
          <p:nvPr/>
        </p:nvSpPr>
        <p:spPr>
          <a:xfrm>
            <a:off x="6604000" y="3073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61C4C"/>
                </a:solidFill>
                <a:latin typeface="Calibri" panose="020F0502020204030204" pitchFamily="34" charset="0"/>
              </a:rPr>
              <a:t>Fine-tuning on Pluto data (now)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E15872-26E5-6B2D-9686-A0C37CEA7897}"/>
              </a:ext>
            </a:extLst>
          </p:cNvPr>
          <p:cNvSpPr txBox="1"/>
          <p:nvPr/>
        </p:nvSpPr>
        <p:spPr>
          <a:xfrm>
            <a:off x="6604000" y="3530600"/>
            <a:ext cx="4889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Starts from the trained weights</a:t>
            </a:r>
          </a:p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Same 70 / 15 / 15 split on real Pluto frames</a:t>
            </a:r>
          </a:p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Learning rate 0.0005, early stopping</a:t>
            </a:r>
          </a:p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10,500 real + 5,000 </a:t>
            </a:r>
            <a:r>
              <a:rPr lang="en-US" sz="1500" dirty="0" err="1">
                <a:solidFill>
                  <a:srgbClr val="1E223C"/>
                </a:solidFill>
                <a:latin typeface="Calibri" panose="020F0502020204030204" pitchFamily="34" charset="0"/>
              </a:rPr>
              <a:t>RadioML</a:t>
            </a: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 training frames</a:t>
            </a:r>
          </a:p>
          <a:p>
            <a:pPr marL="203200" indent="-203200">
              <a:spcAft>
                <a:spcPts val="6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 dirty="0">
                <a:solidFill>
                  <a:srgbClr val="1E223C"/>
                </a:solidFill>
                <a:latin typeface="Calibri" panose="020F0502020204030204" pitchFamily="34" charset="0"/>
              </a:rPr>
              <a:t>About 11 k parameters – real time on a laptop CPU</a:t>
            </a:r>
          </a:p>
        </p:txBody>
      </p:sp>
    </p:spTree>
    <p:extLst>
      <p:ext uri="{BB962C8B-B14F-4D97-AF65-F5344CB8AC3E}">
        <p14:creationId xmlns:p14="http://schemas.microsoft.com/office/powerpoint/2010/main" val="435696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FE0417-C30D-A313-A498-4ABDA7379833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Training, validation and 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91FC47-4A74-5992-6302-55CABDA24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DA93D2-EAAB-EF51-1531-85907DB140BD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749DA-DF52-D4E6-5A9C-D15FDE3F9EFE}"/>
              </a:ext>
            </a:extLst>
          </p:cNvPr>
          <p:cNvSpPr/>
          <p:nvPr/>
        </p:nvSpPr>
        <p:spPr>
          <a:xfrm>
            <a:off x="508000" y="1219200"/>
            <a:ext cx="7772400" cy="508000"/>
          </a:xfrm>
          <a:prstGeom prst="rect">
            <a:avLst/>
          </a:prstGeom>
          <a:solidFill>
            <a:srgbClr val="161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Training  70%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7F345A-917A-1D33-D29E-2C362E845BCB}"/>
              </a:ext>
            </a:extLst>
          </p:cNvPr>
          <p:cNvSpPr/>
          <p:nvPr/>
        </p:nvSpPr>
        <p:spPr>
          <a:xfrm>
            <a:off x="8331200" y="1219200"/>
            <a:ext cx="1625600" cy="508000"/>
          </a:xfrm>
          <a:prstGeom prst="rect">
            <a:avLst/>
          </a:prstGeom>
          <a:solidFill>
            <a:srgbClr val="3A5B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Validation  15%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9716AE-34B0-4488-5C9F-A771C2A4B870}"/>
              </a:ext>
            </a:extLst>
          </p:cNvPr>
          <p:cNvSpPr/>
          <p:nvPr/>
        </p:nvSpPr>
        <p:spPr>
          <a:xfrm>
            <a:off x="10007600" y="1219200"/>
            <a:ext cx="1625600" cy="508000"/>
          </a:xfrm>
          <a:prstGeom prst="rect">
            <a:avLst/>
          </a:prstGeom>
          <a:solidFill>
            <a:srgbClr val="E896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Testing  15%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644CF-2DE8-DEC5-2632-CAEF9806DF03}"/>
              </a:ext>
            </a:extLst>
          </p:cNvPr>
          <p:cNvSpPr txBox="1"/>
          <p:nvPr/>
        </p:nvSpPr>
        <p:spPr>
          <a:xfrm>
            <a:off x="508000" y="180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i="1">
                <a:solidFill>
                  <a:srgbClr val="606680"/>
                </a:solidFill>
                <a:latin typeface="Calibri" panose="020F0502020204030204" pitchFamily="34" charset="0"/>
              </a:rPr>
              <a:t>Stratified split: every modulation (and every power level) appears in all three sets in the same proportion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A5B620B-8E7A-5781-028C-ABC246689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159732"/>
              </p:ext>
            </p:extLst>
          </p:nvPr>
        </p:nvGraphicFramePr>
        <p:xfrm>
          <a:off x="508000" y="2235200"/>
          <a:ext cx="11176000" cy="317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2955723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128404563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421928597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326274475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Set</a:t>
                      </a:r>
                    </a:p>
                  </a:txBody>
                  <a:tcPr marL="101600" marR="76200" marT="38100" marB="38100" anchor="ctr">
                    <a:solidFill>
                      <a:srgbClr val="161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Purpose</a:t>
                      </a:r>
                    </a:p>
                  </a:txBody>
                  <a:tcPr marL="101600" marR="76200" marT="38100" marB="38100" anchor="ctr">
                    <a:solidFill>
                      <a:srgbClr val="161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RadioML CNN</a:t>
                      </a:r>
                    </a:p>
                  </a:txBody>
                  <a:tcPr marL="101600" marR="76200" marT="38100" marB="38100" anchor="ctr">
                    <a:solidFill>
                      <a:srgbClr val="161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Pluto fine-tuning</a:t>
                      </a:r>
                    </a:p>
                  </a:txBody>
                  <a:tcPr marL="101600" marR="76200" marT="38100" marB="38100" anchor="ctr">
                    <a:solidFill>
                      <a:srgbClr val="161C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4319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Training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The network learns from these frames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17,500 frames  |  84.9%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10,500 + 5,000 RadioML  |  99.7%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7501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Validation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Checked during training: best model kept, early stopping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3,750 frames  |  83.3%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2,250 frames  |  99.5%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4734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Testing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Used only once, after training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3,750 frames  |  85.3%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2,250 frames  |  99.6%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44096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Fresh recording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New capture, new random data, never seen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1E223C"/>
                          </a:solidFill>
                          <a:latin typeface="Calibri" panose="020F0502020204030204" pitchFamily="34" charset="0"/>
                        </a:rPr>
                        <a:t>9,600 frames  |  96.7%</a:t>
                      </a:r>
                    </a:p>
                  </a:txBody>
                  <a:tcPr marL="101600" marR="76200" marT="38100" marB="38100" anchor="ctr">
                    <a:solidFill>
                      <a:srgbClr val="EA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381715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34BC5F-9BC2-8ED1-A94A-012200823340}"/>
              </a:ext>
            </a:extLst>
          </p:cNvPr>
          <p:cNvSpPr/>
          <p:nvPr/>
        </p:nvSpPr>
        <p:spPr>
          <a:xfrm>
            <a:off x="508000" y="5588000"/>
            <a:ext cx="11176000" cy="635000"/>
          </a:xfrm>
          <a:prstGeom prst="roundRect">
            <a:avLst>
              <a:gd name="adj" fmla="val 12000"/>
            </a:avLst>
          </a:prstGeom>
          <a:solidFill>
            <a:srgbClr val="DEF4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r>
              <a:rPr lang="en-US" sz="1500" b="1" dirty="0">
                <a:solidFill>
                  <a:srgbClr val="228B54"/>
                </a:solidFill>
                <a:latin typeface="Calibri" panose="020F0502020204030204" pitchFamily="34" charset="0"/>
              </a:rPr>
              <a:t>Training, validation and test accuracy agree within 1-2 points: the model </a:t>
            </a:r>
            <a:r>
              <a:rPr lang="en-US" sz="1500" b="1" dirty="0" err="1">
                <a:solidFill>
                  <a:srgbClr val="228B54"/>
                </a:solidFill>
                <a:latin typeface="Calibri" panose="020F0502020204030204" pitchFamily="34" charset="0"/>
              </a:rPr>
              <a:t>generalises</a:t>
            </a:r>
            <a:r>
              <a:rPr lang="en-US" sz="1500" b="1" dirty="0">
                <a:solidFill>
                  <a:srgbClr val="228B54"/>
                </a:solidFill>
                <a:latin typeface="Calibri" panose="020F0502020204030204" pitchFamily="34" charset="0"/>
              </a:rPr>
              <a:t> and does not over-fit.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292E6-E076-6BA2-2A9A-60ED04B431FA}"/>
              </a:ext>
            </a:extLst>
          </p:cNvPr>
          <p:cNvSpPr txBox="1"/>
          <p:nvPr/>
        </p:nvSpPr>
        <p:spPr>
          <a:xfrm>
            <a:off x="508000" y="6273800"/>
            <a:ext cx="10414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00" dirty="0">
                <a:solidFill>
                  <a:srgbClr val="606680"/>
                </a:solidFill>
                <a:latin typeface="Calibri" panose="020F0502020204030204" pitchFamily="34" charset="0"/>
              </a:rPr>
              <a:t>Pluto recording: 25,000 frames (5 power levels). Train / val / test use the 3 strongest levels = 15,000 frames (10,500 / 2,250 / 2,250); the 2 weakest levels (10,000 frames, near noise) are used only to test accuracy vs SNR.</a:t>
            </a:r>
          </a:p>
        </p:txBody>
      </p:sp>
    </p:spTree>
    <p:extLst>
      <p:ext uri="{BB962C8B-B14F-4D97-AF65-F5344CB8AC3E}">
        <p14:creationId xmlns:p14="http://schemas.microsoft.com/office/powerpoint/2010/main" val="3648322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1DFE3F-3F5D-35B1-F412-59F2BF21AB46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Live RF digital twin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49860-CABD-B1C4-BA3C-2C9F3C3F8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280CA3-5E67-EC3A-2542-3E54E98F7DCD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267DE9-82FF-0AB4-68ED-730623FE50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0"/>
          <a:stretch>
            <a:fillRect/>
          </a:stretch>
        </p:blipFill>
        <p:spPr>
          <a:xfrm>
            <a:off x="508000" y="1270000"/>
            <a:ext cx="7112000" cy="41725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F31581-7CF8-E2DD-BC9B-A578CA690817}"/>
              </a:ext>
            </a:extLst>
          </p:cNvPr>
          <p:cNvSpPr txBox="1"/>
          <p:nvPr/>
        </p:nvSpPr>
        <p:spPr>
          <a:xfrm>
            <a:off x="508000" y="56388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i="1">
                <a:solidFill>
                  <a:srgbClr val="606680"/>
                </a:solidFill>
                <a:latin typeface="Calibri" panose="020F0502020204030204" pitchFamily="34" charset="0"/>
              </a:rPr>
              <a:t>Live run: QPSK transmitted, QPSK predicted with 96% confidence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84F73D-BC87-9928-5577-8493446F0D9B}"/>
              </a:ext>
            </a:extLst>
          </p:cNvPr>
          <p:cNvSpPr txBox="1"/>
          <p:nvPr/>
        </p:nvSpPr>
        <p:spPr>
          <a:xfrm>
            <a:off x="8001000" y="1270000"/>
            <a:ext cx="368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8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I/Q frame: exactly what the CNN sees</a:t>
            </a:r>
          </a:p>
          <a:p>
            <a:pPr marL="203200" indent="-203200">
              <a:spcAft>
                <a:spcPts val="8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Spectrum: about 170 kHz wide, ~35 dB above noise</a:t>
            </a:r>
          </a:p>
          <a:p>
            <a:pPr marL="203200" indent="-203200">
              <a:spcAft>
                <a:spcPts val="8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Constellation: 4 QPSK clusters</a:t>
            </a:r>
          </a:p>
          <a:p>
            <a:pPr marL="203200" indent="-203200">
              <a:spcAft>
                <a:spcPts val="8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Confidence bars: CNN probability per class</a:t>
            </a:r>
          </a:p>
          <a:p>
            <a:pPr marL="203200" indent="-203200">
              <a:spcAft>
                <a:spcPts val="8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Frame accuracy: 99.5% of frames correct</a:t>
            </a:r>
          </a:p>
          <a:p>
            <a:pPr marL="203200" indent="-203200">
              <a:spcAft>
                <a:spcPts val="8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Keys 1-5 switch the transmitted modulation live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01DAE4-96CF-DA8E-D438-8FAA236C4408}"/>
              </a:ext>
            </a:extLst>
          </p:cNvPr>
          <p:cNvSpPr/>
          <p:nvPr/>
        </p:nvSpPr>
        <p:spPr>
          <a:xfrm>
            <a:off x="8001000" y="5207000"/>
            <a:ext cx="3683000" cy="889000"/>
          </a:xfrm>
          <a:prstGeom prst="roundRect">
            <a:avLst>
              <a:gd name="adj" fmla="val 12000"/>
            </a:avLst>
          </a:prstGeom>
          <a:solidFill>
            <a:srgbClr val="DEF4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r>
              <a:rPr lang="en-US" sz="1400" b="1">
                <a:solidFill>
                  <a:srgbClr val="228B54"/>
                </a:solidFill>
                <a:latin typeface="Calibri" panose="020F0502020204030204" pitchFamily="34" charset="0"/>
              </a:rPr>
              <a:t>All 5 modulations classified correctly in the live test with antennas</a:t>
            </a:r>
          </a:p>
        </p:txBody>
      </p:sp>
    </p:spTree>
    <p:extLst>
      <p:ext uri="{BB962C8B-B14F-4D97-AF65-F5344CB8AC3E}">
        <p14:creationId xmlns:p14="http://schemas.microsoft.com/office/powerpoint/2010/main" val="392317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6AF9B-B6E7-87B1-ABFC-23E444637E46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Results: dataset vs. real hardware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0249C-075C-7149-5C8C-36EA8FC28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DFEA0B-1A97-F735-BEB5-95321A0D2D29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6D5076-1C57-55D8-6E92-1C5B3D48F179}"/>
              </a:ext>
            </a:extLst>
          </p:cNvPr>
          <p:cNvSpPr/>
          <p:nvPr/>
        </p:nvSpPr>
        <p:spPr>
          <a:xfrm>
            <a:off x="508000" y="1270000"/>
            <a:ext cx="3556000" cy="2413000"/>
          </a:xfrm>
          <a:prstGeom prst="roundRect">
            <a:avLst>
              <a:gd name="adj" fmla="val 8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0844B-872C-318C-EF97-DF07EC6BBBE5}"/>
              </a:ext>
            </a:extLst>
          </p:cNvPr>
          <p:cNvSpPr txBox="1"/>
          <p:nvPr/>
        </p:nvSpPr>
        <p:spPr>
          <a:xfrm>
            <a:off x="787400" y="1625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5800" b="1">
                <a:solidFill>
                  <a:srgbClr val="3A5BB0"/>
                </a:solidFill>
                <a:latin typeface="Calibri" panose="020F0502020204030204" pitchFamily="34" charset="0"/>
              </a:rPr>
              <a:t>85.25%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D813F-C242-ABB1-8B64-B8BB5EB44628}"/>
              </a:ext>
            </a:extLst>
          </p:cNvPr>
          <p:cNvSpPr txBox="1"/>
          <p:nvPr/>
        </p:nvSpPr>
        <p:spPr>
          <a:xfrm>
            <a:off x="787400" y="2819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606680"/>
                </a:solidFill>
                <a:latin typeface="Calibri" panose="020F0502020204030204" pitchFamily="34" charset="0"/>
              </a:rPr>
              <a:t>Simulation: RadioML test set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9C44F3-39E8-2EB5-DAFE-48D8975CF2CA}"/>
              </a:ext>
            </a:extLst>
          </p:cNvPr>
          <p:cNvSpPr/>
          <p:nvPr/>
        </p:nvSpPr>
        <p:spPr>
          <a:xfrm>
            <a:off x="4318000" y="1270000"/>
            <a:ext cx="3556000" cy="2413000"/>
          </a:xfrm>
          <a:prstGeom prst="roundRect">
            <a:avLst>
              <a:gd name="adj" fmla="val 8000"/>
            </a:avLst>
          </a:prstGeom>
          <a:solidFill>
            <a:srgbClr val="FAE4E1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18670-40DE-8750-7DCE-1FE43441FF54}"/>
              </a:ext>
            </a:extLst>
          </p:cNvPr>
          <p:cNvSpPr txBox="1"/>
          <p:nvPr/>
        </p:nvSpPr>
        <p:spPr>
          <a:xfrm>
            <a:off x="4597400" y="1625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5800" b="1">
                <a:solidFill>
                  <a:srgbClr val="C4463C"/>
                </a:solidFill>
                <a:latin typeface="Calibri" panose="020F0502020204030204" pitchFamily="34" charset="0"/>
              </a:rPr>
              <a:t>74.1%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B50418-DFDE-B9B1-10FB-38DD8DF0258B}"/>
              </a:ext>
            </a:extLst>
          </p:cNvPr>
          <p:cNvSpPr txBox="1"/>
          <p:nvPr/>
        </p:nvSpPr>
        <p:spPr>
          <a:xfrm>
            <a:off x="4597400" y="2819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606680"/>
                </a:solidFill>
                <a:latin typeface="Calibri" panose="020F0502020204030204" pitchFamily="34" charset="0"/>
              </a:rPr>
              <a:t>Real signals: original CNN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4E2EE7-EBCB-D156-77B5-E8C7E8DBC50A}"/>
              </a:ext>
            </a:extLst>
          </p:cNvPr>
          <p:cNvSpPr/>
          <p:nvPr/>
        </p:nvSpPr>
        <p:spPr>
          <a:xfrm>
            <a:off x="8128000" y="1270000"/>
            <a:ext cx="3556000" cy="2413000"/>
          </a:xfrm>
          <a:prstGeom prst="roundRect">
            <a:avLst>
              <a:gd name="adj" fmla="val 8000"/>
            </a:avLst>
          </a:prstGeom>
          <a:solidFill>
            <a:srgbClr val="161C4C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B2738-92FE-5C3E-89BA-6F8C624EB766}"/>
              </a:ext>
            </a:extLst>
          </p:cNvPr>
          <p:cNvSpPr txBox="1"/>
          <p:nvPr/>
        </p:nvSpPr>
        <p:spPr>
          <a:xfrm>
            <a:off x="8407400" y="1625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5800" b="1">
                <a:solidFill>
                  <a:srgbClr val="FFFFFF"/>
                </a:solidFill>
                <a:latin typeface="Calibri" panose="020F0502020204030204" pitchFamily="34" charset="0"/>
              </a:rPr>
              <a:t>96.7%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D0CC40-8FE5-F4D4-94B9-0846A34FE279}"/>
              </a:ext>
            </a:extLst>
          </p:cNvPr>
          <p:cNvSpPr txBox="1"/>
          <p:nvPr/>
        </p:nvSpPr>
        <p:spPr>
          <a:xfrm>
            <a:off x="8407400" y="2819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CADCFC"/>
                </a:solidFill>
                <a:latin typeface="Calibri" panose="020F0502020204030204" pitchFamily="34" charset="0"/>
              </a:rPr>
              <a:t>Real signals: fine-tuned CNN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57F6C0-63E8-562C-79A7-0961D50AE765}"/>
              </a:ext>
            </a:extLst>
          </p:cNvPr>
          <p:cNvSpPr txBox="1"/>
          <p:nvPr/>
        </p:nvSpPr>
        <p:spPr>
          <a:xfrm>
            <a:off x="508000" y="39624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61C4C"/>
                </a:solidFill>
                <a:latin typeface="Calibri" panose="020F0502020204030204" pitchFamily="34" charset="0"/>
              </a:rPr>
              <a:t>-11.2 pts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2CCE5A-1D5C-DBE9-0A58-E7886E3ADD44}"/>
              </a:ext>
            </a:extLst>
          </p:cNvPr>
          <p:cNvSpPr txBox="1"/>
          <p:nvPr/>
        </p:nvSpPr>
        <p:spPr>
          <a:xfrm>
            <a:off x="508000" y="43942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E223C"/>
                </a:solidFill>
                <a:latin typeface="Calibri" panose="020F0502020204030204" pitchFamily="34" charset="0"/>
              </a:rPr>
              <a:t>simulation-to-reality gap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2E80E5-C385-CF34-45D7-28683564850A}"/>
              </a:ext>
            </a:extLst>
          </p:cNvPr>
          <p:cNvSpPr txBox="1"/>
          <p:nvPr/>
        </p:nvSpPr>
        <p:spPr>
          <a:xfrm>
            <a:off x="4318000" y="39624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61C4C"/>
                </a:solidFill>
                <a:latin typeface="Calibri" panose="020F0502020204030204" pitchFamily="34" charset="0"/>
              </a:rPr>
              <a:t>+22.6 pts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829134-5DAF-409F-3051-4DCC83B058C4}"/>
              </a:ext>
            </a:extLst>
          </p:cNvPr>
          <p:cNvSpPr txBox="1"/>
          <p:nvPr/>
        </p:nvSpPr>
        <p:spPr>
          <a:xfrm>
            <a:off x="4318000" y="43942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E223C"/>
                </a:solidFill>
                <a:latin typeface="Calibri" panose="020F0502020204030204" pitchFamily="34" charset="0"/>
              </a:rPr>
              <a:t>gained by fine-tuning on real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82C21-3307-C8CF-B53F-214FB34A33E4}"/>
              </a:ext>
            </a:extLst>
          </p:cNvPr>
          <p:cNvSpPr txBox="1"/>
          <p:nvPr/>
        </p:nvSpPr>
        <p:spPr>
          <a:xfrm>
            <a:off x="8128000" y="39624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61C4C"/>
                </a:solidFill>
                <a:latin typeface="Calibri" panose="020F0502020204030204" pitchFamily="34" charset="0"/>
              </a:rPr>
              <a:t>9,600 frames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D66F34-6D18-C510-A502-8B4357ECA13B}"/>
              </a:ext>
            </a:extLst>
          </p:cNvPr>
          <p:cNvSpPr txBox="1"/>
          <p:nvPr/>
        </p:nvSpPr>
        <p:spPr>
          <a:xfrm>
            <a:off x="8128000" y="43942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E223C"/>
                </a:solidFill>
                <a:latin typeface="Calibri" panose="020F0502020204030204" pitchFamily="34" charset="0"/>
              </a:rPr>
              <a:t>fresh recording, never used in training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1FB0DD-4D27-E6A7-9CB1-F5A0A1D4F081}"/>
              </a:ext>
            </a:extLst>
          </p:cNvPr>
          <p:cNvSpPr txBox="1"/>
          <p:nvPr/>
        </p:nvSpPr>
        <p:spPr>
          <a:xfrm>
            <a:off x="508000" y="5207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n-US" sz="1300" dirty="0">
              <a:solidFill>
                <a:srgbClr val="60668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279B1-B97F-A915-C374-AC62F7353711}"/>
              </a:ext>
            </a:extLst>
          </p:cNvPr>
          <p:cNvSpPr txBox="1"/>
          <p:nvPr/>
        </p:nvSpPr>
        <p:spPr>
          <a:xfrm>
            <a:off x="508000" y="5207000"/>
            <a:ext cx="11176000" cy="64633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606680"/>
                </a:solidFill>
                <a:latin typeface="Calibri" panose="020F0502020204030204" pitchFamily="34" charset="0"/>
              </a:rPr>
              <a:t>Note: the 96.7% comes from an independent fresh recording (9,600 frames, never used for training or validation). The dataset and hardware numbers are measured under different conditions (RadioML: many simulated channels; ours: one short-range lab link after fine-tuning on that link), so they are not a like-for-like comparison.</a:t>
            </a:r>
          </a:p>
        </p:txBody>
      </p:sp>
    </p:spTree>
    <p:extLst>
      <p:ext uri="{BB962C8B-B14F-4D97-AF65-F5344CB8AC3E}">
        <p14:creationId xmlns:p14="http://schemas.microsoft.com/office/powerpoint/2010/main" val="1536113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E985C8-3946-4F05-1648-0B50BE5E2705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Accuracy per modulation (real signals)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DA6189-3702-5468-E761-C714F7606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F0B902-3AF9-E29E-932F-B8625BE51895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12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D223910-E172-7244-9F8A-231DB04F7B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801419"/>
              </p:ext>
            </p:extLst>
          </p:nvPr>
        </p:nvGraphicFramePr>
        <p:xfrm>
          <a:off x="508000" y="1168400"/>
          <a:ext cx="7239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86F333A-9344-E821-2438-62FBD3388555}"/>
              </a:ext>
            </a:extLst>
          </p:cNvPr>
          <p:cNvSpPr txBox="1"/>
          <p:nvPr/>
        </p:nvSpPr>
        <p:spPr>
          <a:xfrm>
            <a:off x="8128000" y="1397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10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>
                <a:solidFill>
                  <a:srgbClr val="1E223C"/>
                </a:solidFill>
                <a:latin typeface="Calibri" panose="020F0502020204030204" pitchFamily="34" charset="0"/>
              </a:rPr>
              <a:t>Digital modulations (BPSK, QPSK, QAM16) were already above 94%</a:t>
            </a:r>
          </a:p>
          <a:p>
            <a:pPr marL="203200" indent="-203200">
              <a:spcAft>
                <a:spcPts val="10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>
                <a:solidFill>
                  <a:srgbClr val="1E223C"/>
                </a:solidFill>
                <a:latin typeface="Calibri" panose="020F0502020204030204" pitchFamily="34" charset="0"/>
              </a:rPr>
              <a:t>AM-DSB: 4% → 91% (+87 pts)</a:t>
            </a:r>
          </a:p>
          <a:p>
            <a:pPr marL="203200" indent="-203200">
              <a:spcAft>
                <a:spcPts val="10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>
                <a:solidFill>
                  <a:srgbClr val="1E223C"/>
                </a:solidFill>
                <a:latin typeface="Calibri" panose="020F0502020204030204" pitchFamily="34" charset="0"/>
              </a:rPr>
              <a:t>WBFM: 74% → 95% (+21 pts)</a:t>
            </a:r>
          </a:p>
          <a:p>
            <a:pPr marL="203200" indent="-203200">
              <a:spcAft>
                <a:spcPts val="10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>
                <a:solidFill>
                  <a:srgbClr val="1E223C"/>
                </a:solidFill>
                <a:latin typeface="Calibri" panose="020F0502020204030204" pitchFamily="34" charset="0"/>
              </a:rPr>
              <a:t>Analog signals change most between simulation and real hardware, so they gain most from real training data</a:t>
            </a:r>
          </a:p>
        </p:txBody>
      </p:sp>
    </p:spTree>
    <p:extLst>
      <p:ext uri="{BB962C8B-B14F-4D97-AF65-F5344CB8AC3E}">
        <p14:creationId xmlns:p14="http://schemas.microsoft.com/office/powerpoint/2010/main" val="28401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D8C23-B72D-3159-50FF-3383116EFD8E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Confusion matrix: before fine-tuning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52DDD-530A-B22A-3009-9AF4A68A2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AFBF88-F58A-84E1-8C59-7024B122DFA2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C779FA-51EF-93D1-EF4F-F62429A20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17600"/>
            <a:ext cx="7620000" cy="52346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727D9D-7BF4-1479-3A4C-E5041BF56B56}"/>
              </a:ext>
            </a:extLst>
          </p:cNvPr>
          <p:cNvSpPr txBox="1"/>
          <p:nvPr/>
        </p:nvSpPr>
        <p:spPr>
          <a:xfrm>
            <a:off x="8636000" y="1219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61C4C"/>
                </a:solidFill>
                <a:latin typeface="Calibri" panose="020F0502020204030204" pitchFamily="34" charset="0"/>
              </a:rPr>
              <a:t>How to read 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FF70F-F5A3-C746-7A49-AABD0FEF7A84}"/>
              </a:ext>
            </a:extLst>
          </p:cNvPr>
          <p:cNvSpPr txBox="1"/>
          <p:nvPr/>
        </p:nvSpPr>
        <p:spPr>
          <a:xfrm>
            <a:off x="8636000" y="1600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Row = what was really sent (1,920 frames each)</a:t>
            </a:r>
          </a:p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Column = what the AI guessed</a:t>
            </a:r>
          </a:p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Blue diagonal = correct</a:t>
            </a:r>
          </a:p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Red box = mistake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8FB4E-E1C6-E9C8-E468-0F95C5EBFEEF}"/>
              </a:ext>
            </a:extLst>
          </p:cNvPr>
          <p:cNvSpPr txBox="1"/>
          <p:nvPr/>
        </p:nvSpPr>
        <p:spPr>
          <a:xfrm>
            <a:off x="8636000" y="3581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61C4C"/>
                </a:solidFill>
                <a:latin typeface="Calibri" panose="020F0502020204030204" pitchFamily="34" charset="0"/>
              </a:rPr>
              <a:t>What it shows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29BE0-C4BB-1329-87C5-ED15A8AD4EE7}"/>
              </a:ext>
            </a:extLst>
          </p:cNvPr>
          <p:cNvSpPr txBox="1"/>
          <p:nvPr/>
        </p:nvSpPr>
        <p:spPr>
          <a:xfrm>
            <a:off x="8636000" y="396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Digital (BPSK, QAM16, QPSK): already 95-99% correct</a:t>
            </a:r>
          </a:p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AM-DSB: only 84 of 1,920 right (4.4%) – mostly called QAM16 (723) or WBFM (707)</a:t>
            </a:r>
          </a:p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WBFM: 479 called AM-DSB</a:t>
            </a:r>
          </a:p>
        </p:txBody>
      </p:sp>
    </p:spTree>
    <p:extLst>
      <p:ext uri="{BB962C8B-B14F-4D97-AF65-F5344CB8AC3E}">
        <p14:creationId xmlns:p14="http://schemas.microsoft.com/office/powerpoint/2010/main" val="1481927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46510A-0F1C-9F06-6A75-1819B3AF3AAA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Confusion matrix: after fine-tuning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527940-CA24-00D1-C31D-0C62E58E8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A8A42D-A8FE-63FC-88B1-4A23FC384DF4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17811-2975-12F6-B44D-65C6EA4D15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17600"/>
            <a:ext cx="7620000" cy="52346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34E080-66FF-ADAE-5C87-FC5D05D5AC7A}"/>
              </a:ext>
            </a:extLst>
          </p:cNvPr>
          <p:cNvSpPr txBox="1"/>
          <p:nvPr/>
        </p:nvSpPr>
        <p:spPr>
          <a:xfrm>
            <a:off x="8636000" y="1219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61C4C"/>
                </a:solidFill>
                <a:latin typeface="Calibri" panose="020F0502020204030204" pitchFamily="34" charset="0"/>
              </a:rPr>
              <a:t>What changed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1BFEC-CD41-C187-5A7D-9DC96061E017}"/>
              </a:ext>
            </a:extLst>
          </p:cNvPr>
          <p:cNvSpPr txBox="1"/>
          <p:nvPr/>
        </p:nvSpPr>
        <p:spPr>
          <a:xfrm>
            <a:off x="8636000" y="1600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AM-DSB correct: 84 → 1,747 (91.0%)</a:t>
            </a:r>
          </a:p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WBFM correct: 1,422 → 1,830 (95.3%)</a:t>
            </a:r>
          </a:p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QPSK correct: 1,819 → 1,917 (99.8%)</a:t>
            </a:r>
          </a:p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Overall: 9,287 of 9,600 = 96.7%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15E4C6-11BA-CBEC-75E0-A388A1DABC13}"/>
              </a:ext>
            </a:extLst>
          </p:cNvPr>
          <p:cNvSpPr txBox="1"/>
          <p:nvPr/>
        </p:nvSpPr>
        <p:spPr>
          <a:xfrm>
            <a:off x="8636000" y="3759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61C4C"/>
                </a:solidFill>
                <a:latin typeface="Calibri" panose="020F0502020204030204" pitchFamily="34" charset="0"/>
              </a:rPr>
              <a:t>Mistakes left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AF9188-76D0-B313-3C56-A01CDD015BC2}"/>
              </a:ext>
            </a:extLst>
          </p:cNvPr>
          <p:cNvSpPr txBox="1"/>
          <p:nvPr/>
        </p:nvSpPr>
        <p:spPr>
          <a:xfrm>
            <a:off x="8636000" y="4140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AM-DSB vs. WBFM (167 + 90): both analog, same audio</a:t>
            </a:r>
          </a:p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QAM16 vs. QPSK (26 + 3): QPSK points look like QAM16 corners</a:t>
            </a:r>
          </a:p>
          <a:p>
            <a:pPr marL="203200" indent="-203200">
              <a:spcAft>
                <a:spcPts val="4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400">
                <a:solidFill>
                  <a:srgbClr val="1E223C"/>
                </a:solidFill>
                <a:latin typeface="Calibri" panose="020F0502020204030204" pitchFamily="34" charset="0"/>
              </a:rPr>
              <a:t>Fixed by deciding over more frames (next slide)</a:t>
            </a:r>
          </a:p>
        </p:txBody>
      </p:sp>
    </p:spTree>
    <p:extLst>
      <p:ext uri="{BB962C8B-B14F-4D97-AF65-F5344CB8AC3E}">
        <p14:creationId xmlns:p14="http://schemas.microsoft.com/office/powerpoint/2010/main" val="3176471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11768E-A98D-7381-CC73-D4B09C7A6075}"/>
              </a:ext>
            </a:extLst>
          </p:cNvPr>
          <p:cNvSpPr txBox="1"/>
          <p:nvPr/>
        </p:nvSpPr>
        <p:spPr>
          <a:xfrm>
            <a:off x="508000" y="330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61C4C"/>
                </a:solidFill>
                <a:latin typeface="Times New Roman" panose="02020603050405020304" pitchFamily="18" charset="0"/>
              </a:rPr>
              <a:t>Deciding over more frames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380AB8-D3C2-443D-94E3-BC3D186DF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DE3A4F-4D09-38B7-795B-4256AB94284E}"/>
              </a:ext>
            </a:extLst>
          </p:cNvPr>
          <p:cNvSpPr txBox="1"/>
          <p:nvPr/>
        </p:nvSpPr>
        <p:spPr>
          <a:xfrm>
            <a:off x="11176000" y="6502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606680"/>
                </a:solidFill>
                <a:latin typeface="Calibri" panose="020F0502020204030204" pitchFamily="34" charset="0"/>
              </a:rPr>
              <a:t>15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8D4D4DF-901C-C6E5-67C3-140632C85BB7}"/>
              </a:ext>
            </a:extLst>
          </p:cNvPr>
          <p:cNvSpPr/>
          <p:nvPr/>
        </p:nvSpPr>
        <p:spPr>
          <a:xfrm>
            <a:off x="508000" y="1270000"/>
            <a:ext cx="3556000" cy="2540000"/>
          </a:xfrm>
          <a:prstGeom prst="roundRect">
            <a:avLst>
              <a:gd name="adj" fmla="val 8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95074-A540-FCA8-6418-52A230350699}"/>
              </a:ext>
            </a:extLst>
          </p:cNvPr>
          <p:cNvSpPr txBox="1"/>
          <p:nvPr/>
        </p:nvSpPr>
        <p:spPr>
          <a:xfrm>
            <a:off x="787400" y="1574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5400" b="1">
                <a:solidFill>
                  <a:srgbClr val="3A5BB0"/>
                </a:solidFill>
                <a:latin typeface="Calibri" panose="020F0502020204030204" pitchFamily="34" charset="0"/>
              </a:rPr>
              <a:t>96.7%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13F844-32BE-425B-F46C-027DA7C89372}"/>
              </a:ext>
            </a:extLst>
          </p:cNvPr>
          <p:cNvSpPr txBox="1"/>
          <p:nvPr/>
        </p:nvSpPr>
        <p:spPr>
          <a:xfrm>
            <a:off x="787400" y="2717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3A5BB0"/>
                </a:solidFill>
                <a:latin typeface="Calibri" panose="020F0502020204030204" pitchFamily="34" charset="0"/>
              </a:rPr>
              <a:t>1 frame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1BE3E-747C-4F0F-EE7F-92A96E494E52}"/>
              </a:ext>
            </a:extLst>
          </p:cNvPr>
          <p:cNvSpPr txBox="1"/>
          <p:nvPr/>
        </p:nvSpPr>
        <p:spPr>
          <a:xfrm>
            <a:off x="787400" y="3124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606680"/>
                </a:solidFill>
                <a:latin typeface="Calibri" panose="020F0502020204030204" pitchFamily="34" charset="0"/>
              </a:rPr>
              <a:t>0.13 ms of signal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53BFEE-D0E5-4CF1-EAE2-1FEC87116D3D}"/>
              </a:ext>
            </a:extLst>
          </p:cNvPr>
          <p:cNvSpPr/>
          <p:nvPr/>
        </p:nvSpPr>
        <p:spPr>
          <a:xfrm>
            <a:off x="4318000" y="1270000"/>
            <a:ext cx="3556000" cy="2540000"/>
          </a:xfrm>
          <a:prstGeom prst="roundRect">
            <a:avLst>
              <a:gd name="adj" fmla="val 8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997C3F-DDB0-A60C-123A-A8686FE382E0}"/>
              </a:ext>
            </a:extLst>
          </p:cNvPr>
          <p:cNvSpPr txBox="1"/>
          <p:nvPr/>
        </p:nvSpPr>
        <p:spPr>
          <a:xfrm>
            <a:off x="4597400" y="1574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5400" b="1">
                <a:solidFill>
                  <a:srgbClr val="3A5BB0"/>
                </a:solidFill>
                <a:latin typeface="Calibri" panose="020F0502020204030204" pitchFamily="34" charset="0"/>
              </a:rPr>
              <a:t>99.5%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962E4-7A42-9B95-2D0C-92C2B7E57174}"/>
              </a:ext>
            </a:extLst>
          </p:cNvPr>
          <p:cNvSpPr txBox="1"/>
          <p:nvPr/>
        </p:nvSpPr>
        <p:spPr>
          <a:xfrm>
            <a:off x="4597400" y="2717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3A5BB0"/>
                </a:solidFill>
                <a:latin typeface="Calibri" panose="020F0502020204030204" pitchFamily="34" charset="0"/>
              </a:rPr>
              <a:t>Vote of 8 frames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656E0C-C23C-3A2D-94D3-105AB8008BD2}"/>
              </a:ext>
            </a:extLst>
          </p:cNvPr>
          <p:cNvSpPr txBox="1"/>
          <p:nvPr/>
        </p:nvSpPr>
        <p:spPr>
          <a:xfrm>
            <a:off x="4597400" y="3124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606680"/>
                </a:solidFill>
                <a:latin typeface="Calibri" panose="020F0502020204030204" pitchFamily="34" charset="0"/>
              </a:rPr>
              <a:t>1 ms of signal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821FF9-2309-1C53-4EDA-B1EE7538774F}"/>
              </a:ext>
            </a:extLst>
          </p:cNvPr>
          <p:cNvSpPr/>
          <p:nvPr/>
        </p:nvSpPr>
        <p:spPr>
          <a:xfrm>
            <a:off x="8128000" y="1270000"/>
            <a:ext cx="3556000" cy="2540000"/>
          </a:xfrm>
          <a:prstGeom prst="roundRect">
            <a:avLst>
              <a:gd name="adj" fmla="val 8000"/>
            </a:avLst>
          </a:prstGeom>
          <a:solidFill>
            <a:srgbClr val="161C4C"/>
          </a:solidFill>
          <a:ln w="19050" cap="flat" cmpd="sng" algn="ctr">
            <a:noFill/>
            <a:prstDash val="solid"/>
            <a:miter lim="800000"/>
          </a:ln>
          <a:effectLst>
            <a:outerShdw blurRad="127000" dist="38100" dir="5400000" rotWithShape="0">
              <a:srgbClr val="00000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47FC26-80AF-4970-2EE6-68E23EE5BFD1}"/>
              </a:ext>
            </a:extLst>
          </p:cNvPr>
          <p:cNvSpPr txBox="1"/>
          <p:nvPr/>
        </p:nvSpPr>
        <p:spPr>
          <a:xfrm>
            <a:off x="8407400" y="1574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5400" b="1">
                <a:solidFill>
                  <a:srgbClr val="FFFFFF"/>
                </a:solidFill>
                <a:latin typeface="Calibri" panose="020F0502020204030204" pitchFamily="34" charset="0"/>
              </a:rPr>
              <a:t>100%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7FB958-7A35-2BE1-894B-3BF6969E4851}"/>
              </a:ext>
            </a:extLst>
          </p:cNvPr>
          <p:cNvSpPr txBox="1"/>
          <p:nvPr/>
        </p:nvSpPr>
        <p:spPr>
          <a:xfrm>
            <a:off x="8407400" y="2717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Vote of 64 frames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F94321-5EC4-A93C-E361-DAF347D64B71}"/>
              </a:ext>
            </a:extLst>
          </p:cNvPr>
          <p:cNvSpPr txBox="1"/>
          <p:nvPr/>
        </p:nvSpPr>
        <p:spPr>
          <a:xfrm>
            <a:off x="8407400" y="3124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CADCFC"/>
                </a:solidFill>
                <a:latin typeface="Calibri" panose="020F0502020204030204" pitchFamily="34" charset="0"/>
              </a:rPr>
              <a:t>8 ms of signal (live dashboard)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E3DAF3-887F-0925-FAF3-4F595BB14262}"/>
              </a:ext>
            </a:extLst>
          </p:cNvPr>
          <p:cNvSpPr txBox="1"/>
          <p:nvPr/>
        </p:nvSpPr>
        <p:spPr>
          <a:xfrm>
            <a:off x="508000" y="4191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8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>
                <a:solidFill>
                  <a:srgbClr val="1E223C"/>
                </a:solidFill>
                <a:latin typeface="Calibri" panose="020F0502020204030204" pitchFamily="34" charset="0"/>
              </a:rPr>
              <a:t>Same fresh recording (9,600 frames), fine-tuned CNN</a:t>
            </a:r>
          </a:p>
          <a:p>
            <a:pPr marL="203200" indent="-203200">
              <a:spcAft>
                <a:spcPts val="8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>
                <a:solidFill>
                  <a:srgbClr val="1E223C"/>
                </a:solidFill>
                <a:latin typeface="Calibri" panose="020F0502020204030204" pitchFamily="34" charset="0"/>
              </a:rPr>
              <a:t>AM-DSB: 91.0% per frame → 99.6% with 8 frames → 100% with 64 frames</a:t>
            </a:r>
          </a:p>
          <a:p>
            <a:pPr marL="203200" indent="-203200">
              <a:spcAft>
                <a:spcPts val="8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>
                <a:solidFill>
                  <a:srgbClr val="1E223C"/>
                </a:solidFill>
                <a:latin typeface="Calibri" panose="020F0502020204030204" pitchFamily="34" charset="0"/>
              </a:rPr>
              <a:t>WBFM: 95.3% per frame → 97.9% with 8 frames → 100% with 64 frames</a:t>
            </a:r>
          </a:p>
          <a:p>
            <a:pPr marL="203200" indent="-203200">
              <a:spcAft>
                <a:spcPts val="800"/>
              </a:spcAft>
              <a:buClr>
                <a:srgbClr val="3A5BB0"/>
              </a:buClr>
              <a:buFont typeface="+mj-lt"/>
              <a:buChar char="•"/>
            </a:pPr>
            <a:r>
              <a:rPr lang="en-US" sz="1500">
                <a:solidFill>
                  <a:srgbClr val="1E223C"/>
                </a:solidFill>
                <a:latin typeface="Calibri" panose="020F0502020204030204" pitchFamily="34" charset="0"/>
              </a:rPr>
              <a:t>8 ms is still instant for a person – this is how the live dashboard reaches 5 / 5 correct</a:t>
            </a:r>
          </a:p>
        </p:txBody>
      </p:sp>
    </p:spTree>
    <p:extLst>
      <p:ext uri="{BB962C8B-B14F-4D97-AF65-F5344CB8AC3E}">
        <p14:creationId xmlns:p14="http://schemas.microsoft.com/office/powerpoint/2010/main" val="2155939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A39A6D8-DF3A-28D8-5A63-DE5CF8F8AB57}"/>
              </a:ext>
            </a:extLst>
          </p:cNvPr>
          <p:cNvSpPr/>
          <p:nvPr/>
        </p:nvSpPr>
        <p:spPr>
          <a:xfrm>
            <a:off x="10858500" y="-571500"/>
            <a:ext cx="1905000" cy="1905000"/>
          </a:xfrm>
          <a:prstGeom prst="ellipse">
            <a:avLst/>
          </a:prstGeom>
          <a:noFill/>
          <a:ln w="12700" cap="flat" cmpd="sng" algn="ctr">
            <a:solidFill>
              <a:srgbClr val="3A5B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FE4962-940A-B22D-13FC-4780C29D8D4D}"/>
              </a:ext>
            </a:extLst>
          </p:cNvPr>
          <p:cNvSpPr/>
          <p:nvPr/>
        </p:nvSpPr>
        <p:spPr>
          <a:xfrm>
            <a:off x="10350500" y="-1079500"/>
            <a:ext cx="2921000" cy="2921000"/>
          </a:xfrm>
          <a:prstGeom prst="ellipse">
            <a:avLst/>
          </a:prstGeom>
          <a:noFill/>
          <a:ln w="12700" cap="flat" cmpd="sng" algn="ctr">
            <a:solidFill>
              <a:srgbClr val="3A5B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2E383C-D8A3-C0CE-DA5C-81989D649347}"/>
              </a:ext>
            </a:extLst>
          </p:cNvPr>
          <p:cNvSpPr/>
          <p:nvPr/>
        </p:nvSpPr>
        <p:spPr>
          <a:xfrm>
            <a:off x="9842500" y="-1587500"/>
            <a:ext cx="3937000" cy="3937000"/>
          </a:xfrm>
          <a:prstGeom prst="ellipse">
            <a:avLst/>
          </a:prstGeom>
          <a:noFill/>
          <a:ln w="12700" cap="flat" cmpd="sng" algn="ctr">
            <a:solidFill>
              <a:srgbClr val="3A5B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324988-F137-CAA4-5DDB-E0DDDA2F0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36875" r="3750" b="38125"/>
          <a:stretch>
            <a:fillRect/>
          </a:stretch>
        </p:blipFill>
        <p:spPr>
          <a:xfrm>
            <a:off x="10388600" y="203200"/>
            <a:ext cx="1524000" cy="4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4911E4-F27A-5859-3FA5-678CA7B2E08D}"/>
              </a:ext>
            </a:extLst>
          </p:cNvPr>
          <p:cNvSpPr txBox="1"/>
          <p:nvPr/>
        </p:nvSpPr>
        <p:spPr>
          <a:xfrm>
            <a:off x="762000" y="2413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5400" b="1">
                <a:solidFill>
                  <a:srgbClr val="FFFFFF"/>
                </a:solidFill>
                <a:latin typeface="Times New Roman" panose="02020603050405020304" pitchFamily="18" charset="0"/>
              </a:rPr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B296A-D487-52B7-C470-2B92B48206CE}"/>
              </a:ext>
            </a:extLst>
          </p:cNvPr>
          <p:cNvSpPr txBox="1"/>
          <p:nvPr/>
        </p:nvSpPr>
        <p:spPr>
          <a:xfrm>
            <a:off x="762000" y="35560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n-US" sz="2400" i="1" dirty="0">
              <a:solidFill>
                <a:srgbClr val="CADCFC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39624-91EE-22B0-C989-2EF7E80DD7A5}"/>
              </a:ext>
            </a:extLst>
          </p:cNvPr>
          <p:cNvSpPr txBox="1"/>
          <p:nvPr/>
        </p:nvSpPr>
        <p:spPr>
          <a:xfrm>
            <a:off x="762000" y="4826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Calibri" panose="020F0502020204030204" pitchFamily="34" charset="0"/>
              </a:rPr>
              <a:t>Group A-16  |  B. Suryacharantej  –  B. Sai Srikar  –  P. Sathwik  –  M. Neeraj</a:t>
            </a:r>
          </a:p>
        </p:txBody>
      </p:sp>
    </p:spTree>
    <p:extLst>
      <p:ext uri="{BB962C8B-B14F-4D97-AF65-F5344CB8AC3E}">
        <p14:creationId xmlns:p14="http://schemas.microsoft.com/office/powerpoint/2010/main" val="3184110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2554</Words>
  <Application>Microsoft Office PowerPoint</Application>
  <PresentationFormat>Widescreen</PresentationFormat>
  <Paragraphs>270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charan tej</dc:creator>
  <cp:lastModifiedBy>surya charan tej</cp:lastModifiedBy>
  <cp:revision>2</cp:revision>
  <dcterms:created xsi:type="dcterms:W3CDTF">2026-10-23T04:19:22Z</dcterms:created>
  <dcterms:modified xsi:type="dcterms:W3CDTF">2026-10-23T08:44:44Z</dcterms:modified>
</cp:coreProperties>
</file>